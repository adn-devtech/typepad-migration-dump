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s/slide5.xml" ContentType="application/vnd.openxmlformats-officedocument.presentationml.slide+xml"/>
  <Override PartName="/ppt/slides/slide6.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slideLayouts/slideLayout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2.xml" ContentType="application/vnd.openxmlformats-officedocument.presentationml.notesSlide+xml"/>
  <Override PartName="/ppt/notesSlides/notesSlide1.xml" ContentType="application/vnd.openxmlformats-officedocument.presentationml.notesSlide+xml"/>
  <Override PartName="/ppt/slideLayouts/slideLayout7.xml" ContentType="application/vnd.openxmlformats-officedocument.presentationml.slideLayout+xml"/>
  <Override PartName="/ppt/slideLayouts/slideLayout3.xml" ContentType="application/vnd.openxmlformats-officedocument.presentationml.slideLayout+xml"/>
  <Override PartName="/ppt/slideLayouts/slideLayout1.xml" ContentType="application/vnd.openxmlformats-officedocument.presentationml.slideLayout+xml"/>
  <Override PartName="/ppt/notesSlides/notesSlide3.xml" ContentType="application/vnd.openxmlformats-officedocument.presentationml.notesSlide+xml"/>
  <Override PartName="/ppt/slideLayouts/slideLayout2.xml" ContentType="application/vnd.openxmlformats-officedocument.presentationml.slideLayout+xml"/>
  <Override PartName="/ppt/commentAuthors.xml" ContentType="application/vnd.openxmlformats-officedocument.presentationml.commentAuthors+xml"/>
  <Override PartName="/ppt/theme/theme1.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theme/theme2.xml" ContentType="application/vnd.openxmlformats-officedocument.theme+xml"/>
  <Override PartName="/ppt/theme/theme3.xml" ContentType="application/vnd.openxmlformats-officedocument.theme+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docProps/app.xml" ContentType="application/vnd.openxmlformats-officedocument.extended-properties+xml"/>
  <Override PartName="/docProps/core.xml" ContentType="application/vnd.openxmlformats-package.core-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7" r:id="rId1"/>
  </p:sldMasterIdLst>
  <p:notesMasterIdLst>
    <p:notesMasterId r:id="rId8"/>
  </p:notesMasterIdLst>
  <p:handoutMasterIdLst>
    <p:handoutMasterId r:id="rId9"/>
  </p:handoutMasterIdLst>
  <p:sldIdLst>
    <p:sldId id="344" r:id="rId2"/>
    <p:sldId id="345" r:id="rId3"/>
    <p:sldId id="347" r:id="rId4"/>
    <p:sldId id="316" r:id="rId5"/>
    <p:sldId id="352" r:id="rId6"/>
    <p:sldId id="325" r:id="rId7"/>
  </p:sldIdLst>
  <p:sldSz cx="9144000" cy="6858000" type="letter"/>
  <p:notesSz cx="7010400" cy="9296400"/>
  <p:defaultTextStyle>
    <a:defPPr>
      <a:defRPr lang="en-US"/>
    </a:defPPr>
    <a:lvl1pPr marL="0" algn="l" defTabSz="571211" rtl="0" eaLnBrk="1" latinLnBrk="0" hangingPunct="1">
      <a:defRPr sz="2200" kern="1200">
        <a:solidFill>
          <a:schemeClr val="tx1"/>
        </a:solidFill>
        <a:latin typeface="+mn-lt"/>
        <a:ea typeface="+mn-ea"/>
        <a:cs typeface="+mn-cs"/>
      </a:defRPr>
    </a:lvl1pPr>
    <a:lvl2pPr marL="571211" algn="l" defTabSz="571211" rtl="0" eaLnBrk="1" latinLnBrk="0" hangingPunct="1">
      <a:defRPr sz="2200" kern="1200">
        <a:solidFill>
          <a:schemeClr val="tx1"/>
        </a:solidFill>
        <a:latin typeface="+mn-lt"/>
        <a:ea typeface="+mn-ea"/>
        <a:cs typeface="+mn-cs"/>
      </a:defRPr>
    </a:lvl2pPr>
    <a:lvl3pPr marL="1142422" algn="l" defTabSz="571211" rtl="0" eaLnBrk="1" latinLnBrk="0" hangingPunct="1">
      <a:defRPr sz="2200" kern="1200">
        <a:solidFill>
          <a:schemeClr val="tx1"/>
        </a:solidFill>
        <a:latin typeface="+mn-lt"/>
        <a:ea typeface="+mn-ea"/>
        <a:cs typeface="+mn-cs"/>
      </a:defRPr>
    </a:lvl3pPr>
    <a:lvl4pPr marL="1713633" algn="l" defTabSz="571211" rtl="0" eaLnBrk="1" latinLnBrk="0" hangingPunct="1">
      <a:defRPr sz="2200" kern="1200">
        <a:solidFill>
          <a:schemeClr val="tx1"/>
        </a:solidFill>
        <a:latin typeface="+mn-lt"/>
        <a:ea typeface="+mn-ea"/>
        <a:cs typeface="+mn-cs"/>
      </a:defRPr>
    </a:lvl4pPr>
    <a:lvl5pPr marL="2284844" algn="l" defTabSz="571211" rtl="0" eaLnBrk="1" latinLnBrk="0" hangingPunct="1">
      <a:defRPr sz="2200" kern="1200">
        <a:solidFill>
          <a:schemeClr val="tx1"/>
        </a:solidFill>
        <a:latin typeface="+mn-lt"/>
        <a:ea typeface="+mn-ea"/>
        <a:cs typeface="+mn-cs"/>
      </a:defRPr>
    </a:lvl5pPr>
    <a:lvl6pPr marL="2856055" algn="l" defTabSz="571211" rtl="0" eaLnBrk="1" latinLnBrk="0" hangingPunct="1">
      <a:defRPr sz="2200" kern="1200">
        <a:solidFill>
          <a:schemeClr val="tx1"/>
        </a:solidFill>
        <a:latin typeface="+mn-lt"/>
        <a:ea typeface="+mn-ea"/>
        <a:cs typeface="+mn-cs"/>
      </a:defRPr>
    </a:lvl6pPr>
    <a:lvl7pPr marL="3427265" algn="l" defTabSz="571211" rtl="0" eaLnBrk="1" latinLnBrk="0" hangingPunct="1">
      <a:defRPr sz="2200" kern="1200">
        <a:solidFill>
          <a:schemeClr val="tx1"/>
        </a:solidFill>
        <a:latin typeface="+mn-lt"/>
        <a:ea typeface="+mn-ea"/>
        <a:cs typeface="+mn-cs"/>
      </a:defRPr>
    </a:lvl7pPr>
    <a:lvl8pPr marL="3998477" algn="l" defTabSz="571211" rtl="0" eaLnBrk="1" latinLnBrk="0" hangingPunct="1">
      <a:defRPr sz="2200" kern="1200">
        <a:solidFill>
          <a:schemeClr val="tx1"/>
        </a:solidFill>
        <a:latin typeface="+mn-lt"/>
        <a:ea typeface="+mn-ea"/>
        <a:cs typeface="+mn-cs"/>
      </a:defRPr>
    </a:lvl8pPr>
    <a:lvl9pPr marL="4569687" algn="l" defTabSz="571211" rtl="0" eaLnBrk="1" latinLnBrk="0" hangingPunct="1">
      <a:defRPr sz="22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kako Harada" initials="MH"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B7D88C"/>
    <a:srgbClr val="FFFFCC"/>
    <a:srgbClr val="000000"/>
    <a:srgbClr val="FFF5CC"/>
    <a:srgbClr val="FFFF00"/>
    <a:srgbClr val="FFCC00"/>
    <a:srgbClr val="005E30"/>
    <a:srgbClr val="1858A8"/>
    <a:srgbClr val="FFFFFF"/>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9770" autoAdjust="0"/>
    <p:restoredTop sz="66468" autoAdjust="0"/>
  </p:normalViewPr>
  <p:slideViewPr>
    <p:cSldViewPr snapToGrid="0" snapToObjects="1">
      <p:cViewPr varScale="1">
        <p:scale>
          <a:sx n="73" d="100"/>
          <a:sy n="73" d="100"/>
        </p:scale>
        <p:origin x="-2640" y="-90"/>
      </p:cViewPr>
      <p:guideLst>
        <p:guide orient="horz" pos="407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17" Type="http://schemas.openxmlformats.org/officeDocument/2006/relationships/customXml" Target="../customXml/item3.xml"/><Relationship Id="rId2" Type="http://schemas.openxmlformats.org/officeDocument/2006/relationships/slide" Target="slides/slide1.xml"/><Relationship Id="rId16" Type="http://schemas.openxmlformats.org/officeDocument/2006/relationships/customXml" Target="../customXml/item2.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customXml" Target="../customXml/item1.xml"/><Relationship Id="rId1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387C2776-B9DD-1946-9831-785CA23AC1F1}" type="datetime1">
              <a:rPr lang="en-US" smtClean="0"/>
              <a:t>8/12/2013</a:t>
            </a:fld>
            <a:endParaRPr lang="en-US" dirty="0"/>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58ECB827-1CCB-B349-98A7-AAC485CBB65F}" type="slidenum">
              <a:rPr lang="en-US" smtClean="0"/>
              <a:t>‹#›</a:t>
            </a:fld>
            <a:endParaRPr lang="en-US" dirty="0"/>
          </a:p>
        </p:txBody>
      </p:sp>
    </p:spTree>
    <p:extLst>
      <p:ext uri="{BB962C8B-B14F-4D97-AF65-F5344CB8AC3E}">
        <p14:creationId xmlns:p14="http://schemas.microsoft.com/office/powerpoint/2010/main" val="343552177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13A1C7DD-7A43-8947-A922-8561F0BA9BCC}" type="datetime1">
              <a:rPr lang="en-US" smtClean="0"/>
              <a:t>8/12/2013</a:t>
            </a:fld>
            <a:endParaRPr lang="en-US" dirty="0"/>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3E9330B-B1DA-214B-A229-0CB8492B91A5}" type="slidenum">
              <a:rPr lang="en-US" smtClean="0"/>
              <a:t>‹#›</a:t>
            </a:fld>
            <a:endParaRPr lang="en-US" dirty="0"/>
          </a:p>
        </p:txBody>
      </p:sp>
    </p:spTree>
    <p:extLst>
      <p:ext uri="{BB962C8B-B14F-4D97-AF65-F5344CB8AC3E}">
        <p14:creationId xmlns:p14="http://schemas.microsoft.com/office/powerpoint/2010/main" val="726771065"/>
      </p:ext>
    </p:extLst>
  </p:cSld>
  <p:clrMap bg1="lt1" tx1="dk1" bg2="lt2" tx2="dk2" accent1="accent1" accent2="accent2" accent3="accent3" accent4="accent4" accent5="accent5" accent6="accent6" hlink="hlink" folHlink="folHlink"/>
  <p:hf hdr="0" ftr="0" dt="0"/>
  <p:notesStyle>
    <a:lvl1pPr marL="0" algn="l" defTabSz="571211" rtl="0" eaLnBrk="1" latinLnBrk="0" hangingPunct="1">
      <a:defRPr sz="1500" kern="1200">
        <a:solidFill>
          <a:schemeClr val="tx1"/>
        </a:solidFill>
        <a:latin typeface="+mn-lt"/>
        <a:ea typeface="+mn-ea"/>
        <a:cs typeface="+mn-cs"/>
      </a:defRPr>
    </a:lvl1pPr>
    <a:lvl2pPr marL="571211" algn="l" defTabSz="571211" rtl="0" eaLnBrk="1" latinLnBrk="0" hangingPunct="1">
      <a:defRPr sz="1500" kern="1200">
        <a:solidFill>
          <a:schemeClr val="tx1"/>
        </a:solidFill>
        <a:latin typeface="+mn-lt"/>
        <a:ea typeface="+mn-ea"/>
        <a:cs typeface="+mn-cs"/>
      </a:defRPr>
    </a:lvl2pPr>
    <a:lvl3pPr marL="1142422" algn="l" defTabSz="571211" rtl="0" eaLnBrk="1" latinLnBrk="0" hangingPunct="1">
      <a:defRPr sz="1500" kern="1200">
        <a:solidFill>
          <a:schemeClr val="tx1"/>
        </a:solidFill>
        <a:latin typeface="+mn-lt"/>
        <a:ea typeface="+mn-ea"/>
        <a:cs typeface="+mn-cs"/>
      </a:defRPr>
    </a:lvl3pPr>
    <a:lvl4pPr marL="1713633" algn="l" defTabSz="571211" rtl="0" eaLnBrk="1" latinLnBrk="0" hangingPunct="1">
      <a:defRPr sz="1500" kern="1200">
        <a:solidFill>
          <a:schemeClr val="tx1"/>
        </a:solidFill>
        <a:latin typeface="+mn-lt"/>
        <a:ea typeface="+mn-ea"/>
        <a:cs typeface="+mn-cs"/>
      </a:defRPr>
    </a:lvl4pPr>
    <a:lvl5pPr marL="2284844" algn="l" defTabSz="571211" rtl="0" eaLnBrk="1" latinLnBrk="0" hangingPunct="1">
      <a:defRPr sz="1500" kern="1200">
        <a:solidFill>
          <a:schemeClr val="tx1"/>
        </a:solidFill>
        <a:latin typeface="+mn-lt"/>
        <a:ea typeface="+mn-ea"/>
        <a:cs typeface="+mn-cs"/>
      </a:defRPr>
    </a:lvl5pPr>
    <a:lvl6pPr marL="2856055" algn="l" defTabSz="571211" rtl="0" eaLnBrk="1" latinLnBrk="0" hangingPunct="1">
      <a:defRPr sz="1500" kern="1200">
        <a:solidFill>
          <a:schemeClr val="tx1"/>
        </a:solidFill>
        <a:latin typeface="+mn-lt"/>
        <a:ea typeface="+mn-ea"/>
        <a:cs typeface="+mn-cs"/>
      </a:defRPr>
    </a:lvl6pPr>
    <a:lvl7pPr marL="3427265" algn="l" defTabSz="571211" rtl="0" eaLnBrk="1" latinLnBrk="0" hangingPunct="1">
      <a:defRPr sz="1500" kern="1200">
        <a:solidFill>
          <a:schemeClr val="tx1"/>
        </a:solidFill>
        <a:latin typeface="+mn-lt"/>
        <a:ea typeface="+mn-ea"/>
        <a:cs typeface="+mn-cs"/>
      </a:defRPr>
    </a:lvl7pPr>
    <a:lvl8pPr marL="3998477" algn="l" defTabSz="571211" rtl="0" eaLnBrk="1" latinLnBrk="0" hangingPunct="1">
      <a:defRPr sz="1500" kern="1200">
        <a:solidFill>
          <a:schemeClr val="tx1"/>
        </a:solidFill>
        <a:latin typeface="+mn-lt"/>
        <a:ea typeface="+mn-ea"/>
        <a:cs typeface="+mn-cs"/>
      </a:defRPr>
    </a:lvl8pPr>
    <a:lvl9pPr marL="4569687" algn="l" defTabSz="571211"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Preparing </a:t>
            </a:r>
            <a:r>
              <a:rPr lang="en-US" smtClean="0"/>
              <a:t>Publishing information</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a:t>
            </a:fld>
            <a:endParaRPr lang="en-US" dirty="0"/>
          </a:p>
        </p:txBody>
      </p:sp>
    </p:spTree>
    <p:extLst>
      <p:ext uri="{BB962C8B-B14F-4D97-AF65-F5344CB8AC3E}">
        <p14:creationId xmlns:p14="http://schemas.microsoft.com/office/powerpoint/2010/main" val="21560709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Before you submit your app bundle</a:t>
            </a:r>
            <a:r>
              <a:rPr lang="en-US" baseline="0" dirty="0" smtClean="0"/>
              <a:t> to the store, you need to gather and organize some information.</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2</a:t>
            </a:fld>
            <a:endParaRPr lang="en-US" dirty="0"/>
          </a:p>
        </p:txBody>
      </p:sp>
    </p:spTree>
    <p:extLst>
      <p:ext uri="{BB962C8B-B14F-4D97-AF65-F5344CB8AC3E}">
        <p14:creationId xmlns:p14="http://schemas.microsoft.com/office/powerpoint/2010/main" val="14136155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US" dirty="0" smtClean="0"/>
              <a:t>Here is the information you will need to have ready while submitting your app</a:t>
            </a:r>
          </a:p>
          <a:p>
            <a:pPr marL="285750" indent="-285750">
              <a:buFontTx/>
              <a:buChar char="-"/>
            </a:pPr>
            <a:r>
              <a:rPr lang="en-US" dirty="0" smtClean="0"/>
              <a:t>Among these, the App logo</a:t>
            </a:r>
            <a:r>
              <a:rPr lang="en-US" baseline="0" dirty="0" smtClean="0"/>
              <a:t> and screenshots are used on the store page of your app as well as in the HTML help template created by us.</a:t>
            </a:r>
          </a:p>
          <a:p>
            <a:pPr marL="285750" indent="-285750">
              <a:buFontTx/>
              <a:buChar char="-"/>
            </a:pPr>
            <a:r>
              <a:rPr lang="en-US" baseline="0" dirty="0" smtClean="0"/>
              <a:t>It is also important for you to provide proper contact information so that users can contact you for support if necessary</a:t>
            </a:r>
          </a:p>
          <a:p>
            <a:pPr marL="285750" indent="-285750">
              <a:buFontTx/>
              <a:buChar char="-"/>
            </a:pPr>
            <a:r>
              <a:rPr lang="en-US" baseline="0" dirty="0" smtClean="0"/>
              <a:t>If you choose to submit your app as a paid app, you need to provide proper pricing information as well as valid </a:t>
            </a:r>
            <a:r>
              <a:rPr lang="en-US" baseline="0" dirty="0" err="1" smtClean="0"/>
              <a:t>paypal</a:t>
            </a:r>
            <a:r>
              <a:rPr lang="en-US" baseline="0" dirty="0" smtClean="0"/>
              <a:t> account information.</a:t>
            </a:r>
          </a:p>
          <a:p>
            <a:pPr marL="285750" indent="-285750">
              <a:buFontTx/>
              <a:buChar char="-"/>
            </a:pPr>
            <a:r>
              <a:rPr lang="en-US" baseline="0" dirty="0" smtClean="0"/>
              <a:t>Make sure you have these information at hand before you submit your app.  It will help you have smooth submission process.  </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3</a:t>
            </a:fld>
            <a:endParaRPr lang="en-US" dirty="0"/>
          </a:p>
        </p:txBody>
      </p:sp>
    </p:spTree>
    <p:extLst>
      <p:ext uri="{BB962C8B-B14F-4D97-AF65-F5344CB8AC3E}">
        <p14:creationId xmlns:p14="http://schemas.microsoft.com/office/powerpoint/2010/main" val="3430568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Here</a:t>
            </a:r>
            <a:r>
              <a:rPr lang="en-US" baseline="0" dirty="0" smtClean="0"/>
              <a:t> are links to very useful documentation on information you will need before submitting your app. (show the app submission doc with the filled information)</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4</a:t>
            </a:fld>
            <a:endParaRPr lang="en-US" dirty="0"/>
          </a:p>
        </p:txBody>
      </p:sp>
    </p:spTree>
    <p:extLst>
      <p:ext uri="{BB962C8B-B14F-4D97-AF65-F5344CB8AC3E}">
        <p14:creationId xmlns:p14="http://schemas.microsoft.com/office/powerpoint/2010/main" val="1285385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Once you have your app organized in the bundle format and all the publishing information needed, you</a:t>
            </a:r>
            <a:r>
              <a:rPr lang="en-US" baseline="0" dirty="0" smtClean="0"/>
              <a:t> are ready to submit your app to the store.</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5</a:t>
            </a:fld>
            <a:endParaRPr lang="en-US" dirty="0"/>
          </a:p>
        </p:txBody>
      </p:sp>
    </p:spTree>
    <p:extLst>
      <p:ext uri="{BB962C8B-B14F-4D97-AF65-F5344CB8AC3E}">
        <p14:creationId xmlns:p14="http://schemas.microsoft.com/office/powerpoint/2010/main" val="14136155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is the end of the presentation. Thank you </a:t>
            </a:r>
            <a:r>
              <a:rPr lang="en-US" smtClean="0"/>
              <a:t>for</a:t>
            </a:r>
            <a:r>
              <a:rPr lang="en-US" baseline="0" smtClean="0"/>
              <a:t> watching </a:t>
            </a:r>
            <a:r>
              <a:rPr lang="en-US" baseline="0" dirty="0" smtClean="0"/>
              <a:t>it patiently.</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6</a:t>
            </a:fld>
            <a:endParaRPr lang="en-US" dirty="0"/>
          </a:p>
        </p:txBody>
      </p:sp>
    </p:spTree>
    <p:extLst>
      <p:ext uri="{BB962C8B-B14F-4D97-AF65-F5344CB8AC3E}">
        <p14:creationId xmlns:p14="http://schemas.microsoft.com/office/powerpoint/2010/main" val="60984207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ain Title">
    <p:bg>
      <p:bgPr>
        <a:solidFill>
          <a:schemeClr val="bg1"/>
        </a:solidFill>
        <a:effectLst/>
      </p:bgPr>
    </p:bg>
    <p:spTree>
      <p:nvGrpSpPr>
        <p:cNvPr id="1" name=""/>
        <p:cNvGrpSpPr/>
        <p:nvPr/>
      </p:nvGrpSpPr>
      <p:grpSpPr>
        <a:xfrm>
          <a:off x="0" y="0"/>
          <a:ext cx="0" cy="0"/>
          <a:chOff x="0" y="0"/>
          <a:chExt cx="0" cy="0"/>
        </a:xfrm>
      </p:grpSpPr>
      <p:pic>
        <p:nvPicPr>
          <p:cNvPr id="13" name="Picture 12" descr="Corporate_Image_2012-09_v2.tif"/>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718" y="0"/>
            <a:ext cx="9156719" cy="6858000"/>
          </a:xfrm>
          <a:prstGeom prst="rect">
            <a:avLst/>
          </a:prstGeom>
        </p:spPr>
      </p:pic>
      <p:sp>
        <p:nvSpPr>
          <p:cNvPr id="2" name="Rectangle 1"/>
          <p:cNvSpPr/>
          <p:nvPr/>
        </p:nvSpPr>
        <p:spPr>
          <a:xfrm>
            <a:off x="-12719" y="1820073"/>
            <a:ext cx="9156719" cy="3066252"/>
          </a:xfrm>
          <a:prstGeom prst="rect">
            <a:avLst/>
          </a:prstGeom>
          <a:gradFill>
            <a:gsLst>
              <a:gs pos="20000">
                <a:schemeClr val="bg1">
                  <a:alpha val="88000"/>
                </a:schemeClr>
              </a:gs>
              <a:gs pos="100000">
                <a:schemeClr val="bg1">
                  <a:alpha val="50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4" name="Text Placeholder 2"/>
          <p:cNvSpPr>
            <a:spLocks noGrp="1"/>
          </p:cNvSpPr>
          <p:nvPr>
            <p:ph type="body" sz="quarter" idx="10" hasCustomPrompt="1"/>
          </p:nvPr>
        </p:nvSpPr>
        <p:spPr>
          <a:xfrm>
            <a:off x="457202" y="2432343"/>
            <a:ext cx="5397358" cy="1205087"/>
          </a:xfrm>
          <a:prstGeom prst="rect">
            <a:avLst/>
          </a:prstGeom>
        </p:spPr>
        <p:txBody>
          <a:bodyPr lIns="0" tIns="0" rIns="0" bIns="0">
            <a:noAutofit/>
          </a:bodyPr>
          <a:lstStyle>
            <a:lvl1pPr marL="0" indent="0">
              <a:spcBef>
                <a:spcPts val="0"/>
              </a:spcBef>
              <a:buNone/>
              <a:defRPr sz="3000" b="1" baseline="0">
                <a:solidFill>
                  <a:schemeClr val="accent4"/>
                </a:solidFill>
              </a:defRPr>
            </a:lvl1pPr>
          </a:lstStyle>
          <a:p>
            <a:r>
              <a:rPr lang="en-US" sz="2800" dirty="0" smtClean="0"/>
              <a:t>Main title can extend over one or two lines</a:t>
            </a:r>
            <a:endParaRPr lang="en-US" sz="2800" dirty="0"/>
          </a:p>
        </p:txBody>
      </p:sp>
      <p:sp>
        <p:nvSpPr>
          <p:cNvPr id="5" name="Text Placeholder 4"/>
          <p:cNvSpPr>
            <a:spLocks noGrp="1"/>
          </p:cNvSpPr>
          <p:nvPr>
            <p:ph type="body" sz="quarter" idx="12" hasCustomPrompt="1"/>
          </p:nvPr>
        </p:nvSpPr>
        <p:spPr>
          <a:xfrm>
            <a:off x="457203" y="3728701"/>
            <a:ext cx="5397356" cy="387255"/>
          </a:xfrm>
          <a:prstGeom prst="rect">
            <a:avLst/>
          </a:prstGeom>
        </p:spPr>
        <p:txBody>
          <a:bodyPr lIns="0" tIns="0" rIns="0" bIns="0">
            <a:noAutofit/>
          </a:bodyPr>
          <a:lstStyle>
            <a:lvl1pPr marL="0" indent="0">
              <a:spcBef>
                <a:spcPts val="0"/>
              </a:spcBef>
              <a:buNone/>
              <a:defRPr sz="2000" b="0" baseline="0">
                <a:solidFill>
                  <a:schemeClr val="tx2"/>
                </a:solidFill>
              </a:defRPr>
            </a:lvl1pPr>
          </a:lstStyle>
          <a:p>
            <a:pPr lvl="0"/>
            <a:r>
              <a:rPr lang="en-US" dirty="0" smtClean="0"/>
              <a:t>Presenter Name</a:t>
            </a:r>
          </a:p>
        </p:txBody>
      </p:sp>
      <p:sp>
        <p:nvSpPr>
          <p:cNvPr id="6" name="Text Placeholder 15"/>
          <p:cNvSpPr>
            <a:spLocks noGrp="1"/>
          </p:cNvSpPr>
          <p:nvPr>
            <p:ph type="body" sz="quarter" idx="13" hasCustomPrompt="1"/>
          </p:nvPr>
        </p:nvSpPr>
        <p:spPr>
          <a:xfrm>
            <a:off x="457202" y="4115957"/>
            <a:ext cx="5397358" cy="315214"/>
          </a:xfrm>
          <a:prstGeom prst="rect">
            <a:avLst/>
          </a:prstGeom>
        </p:spPr>
        <p:txBody>
          <a:bodyPr lIns="0" tIns="0" rIns="0" bIns="0">
            <a:noAutofit/>
          </a:bodyPr>
          <a:lstStyle>
            <a:lvl1pPr marL="0" indent="0">
              <a:spcBef>
                <a:spcPts val="0"/>
              </a:spcBef>
              <a:buNone/>
              <a:defRPr sz="1500" b="0" baseline="0">
                <a:solidFill>
                  <a:schemeClr val="tx2"/>
                </a:solidFill>
              </a:defRPr>
            </a:lvl1pPr>
          </a:lstStyle>
          <a:p>
            <a:pPr lvl="0"/>
            <a:r>
              <a:rPr lang="en-US" dirty="0" smtClean="0"/>
              <a:t>Presenter Title</a:t>
            </a:r>
            <a:endParaRPr lang="en-US" dirty="0"/>
          </a:p>
        </p:txBody>
      </p:sp>
      <p:sp>
        <p:nvSpPr>
          <p:cNvPr id="7" name="Text Placeholder 15"/>
          <p:cNvSpPr>
            <a:spLocks noGrp="1"/>
          </p:cNvSpPr>
          <p:nvPr>
            <p:ph type="body" sz="quarter" idx="14" hasCustomPrompt="1"/>
          </p:nvPr>
        </p:nvSpPr>
        <p:spPr>
          <a:xfrm>
            <a:off x="457202" y="2117128"/>
            <a:ext cx="5397358" cy="315214"/>
          </a:xfrm>
          <a:prstGeom prst="rect">
            <a:avLst/>
          </a:prstGeom>
        </p:spPr>
        <p:txBody>
          <a:bodyPr lIns="0" tIns="0" rIns="0" bIns="0">
            <a:noAutofit/>
          </a:bodyPr>
          <a:lstStyle>
            <a:lvl1pPr marL="0" indent="0">
              <a:spcBef>
                <a:spcPts val="0"/>
              </a:spcBef>
              <a:buNone/>
              <a:defRPr sz="1500" b="1" baseline="0">
                <a:solidFill>
                  <a:schemeClr val="accent4"/>
                </a:solidFill>
              </a:defRPr>
            </a:lvl1pPr>
          </a:lstStyle>
          <a:p>
            <a:pPr lvl="0"/>
            <a:r>
              <a:rPr lang="en-US" dirty="0" smtClean="0"/>
              <a:t>Event name 2013</a:t>
            </a:r>
            <a:endParaRPr lang="en-US" dirty="0"/>
          </a:p>
        </p:txBody>
      </p:sp>
      <p:sp>
        <p:nvSpPr>
          <p:cNvPr id="14" name="TextBox 13"/>
          <p:cNvSpPr txBox="1"/>
          <p:nvPr/>
        </p:nvSpPr>
        <p:spPr>
          <a:xfrm>
            <a:off x="74081" y="6596295"/>
            <a:ext cx="1316904" cy="138499"/>
          </a:xfrm>
          <a:prstGeom prst="rect">
            <a:avLst/>
          </a:prstGeom>
          <a:noFill/>
        </p:spPr>
        <p:txBody>
          <a:bodyPr wrap="square" lIns="0" tIns="0" rIns="0" bIns="0" rtlCol="0">
            <a:spAutoFit/>
          </a:bodyPr>
          <a:lstStyle/>
          <a:p>
            <a:r>
              <a:rPr lang="en-US" sz="900" b="0" i="0" baseline="0" dirty="0" smtClean="0">
                <a:solidFill>
                  <a:schemeClr val="bg1">
                    <a:lumMod val="65000"/>
                  </a:schemeClr>
                </a:solidFill>
                <a:latin typeface="Frutiger Next LT W1G"/>
                <a:cs typeface="Frutiger Next LT W1G"/>
              </a:rPr>
              <a:t>© 2013 Autodesk</a:t>
            </a:r>
            <a:endParaRPr lang="en-US" sz="900" b="0" i="0" baseline="0" dirty="0">
              <a:solidFill>
                <a:schemeClr val="bg1">
                  <a:lumMod val="65000"/>
                </a:schemeClr>
              </a:solidFill>
              <a:latin typeface="Frutiger Next LT W1G"/>
              <a:cs typeface="Frutiger Next LT W1G"/>
            </a:endParaRPr>
          </a:p>
        </p:txBody>
      </p:sp>
      <p:sp>
        <p:nvSpPr>
          <p:cNvPr id="20" name="Rectangle 19"/>
          <p:cNvSpPr/>
          <p:nvPr userDrawn="1"/>
        </p:nvSpPr>
        <p:spPr>
          <a:xfrm>
            <a:off x="-12719" y="4460895"/>
            <a:ext cx="9156719" cy="423184"/>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1" name="Picture 20" descr="autodesk-logo-rgb-color-logo-black-text-large.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612987" y="4552805"/>
            <a:ext cx="1427937" cy="239365"/>
          </a:xfrm>
          <a:prstGeom prst="rect">
            <a:avLst/>
          </a:prstGeom>
        </p:spPr>
      </p:pic>
    </p:spTree>
    <p:extLst>
      <p:ext uri="{BB962C8B-B14F-4D97-AF65-F5344CB8AC3E}">
        <p14:creationId xmlns:p14="http://schemas.microsoft.com/office/powerpoint/2010/main" val="303404946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1 column)">
    <p:spTree>
      <p:nvGrpSpPr>
        <p:cNvPr id="1" name=""/>
        <p:cNvGrpSpPr/>
        <p:nvPr/>
      </p:nvGrpSpPr>
      <p:grpSpPr>
        <a:xfrm>
          <a:off x="0" y="0"/>
          <a:ext cx="0" cy="0"/>
          <a:chOff x="0" y="0"/>
          <a:chExt cx="0" cy="0"/>
        </a:xfrm>
      </p:grpSpPr>
      <p:sp>
        <p:nvSpPr>
          <p:cNvPr id="4" name="Content Placeholder 2"/>
          <p:cNvSpPr>
            <a:spLocks noGrp="1"/>
          </p:cNvSpPr>
          <p:nvPr>
            <p:ph idx="1"/>
          </p:nvPr>
        </p:nvSpPr>
        <p:spPr>
          <a:xfrm>
            <a:off x="457200" y="1417641"/>
            <a:ext cx="8229644"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solidFill>
                  <a:schemeClr val="tx1"/>
                </a:solidFill>
              </a:defRPr>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solidFill>
                  <a:schemeClr val="tx1"/>
                </a:solidFill>
              </a:defRPr>
            </a:lvl3pPr>
            <a:lvl4pPr marL="1791862" indent="-230379">
              <a:buClr>
                <a:schemeClr val="accent4"/>
              </a:buClr>
              <a:buSzPct val="100000"/>
              <a:buFont typeface="Wingdings" charset="2"/>
              <a:buChar char="§"/>
              <a:defRPr sz="1700" b="0">
                <a:solidFill>
                  <a:schemeClr val="tx1"/>
                </a:solidFill>
              </a:defRPr>
            </a:lvl4pPr>
            <a:lvl5pPr marL="2303821" indent="-201582">
              <a:buClr>
                <a:schemeClr val="accent4"/>
              </a:buClr>
              <a:buSzPct val="100000"/>
              <a:buFont typeface="Wingdings" charset="2"/>
              <a:buChar char="§"/>
              <a:defRPr sz="1500" b="0">
                <a:solidFill>
                  <a:schemeClr val="tx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dirty="0" smtClean="0"/>
              <a:t>Click to edit Master title style</a:t>
            </a:r>
            <a:endParaRPr lang="en-US" dirty="0"/>
          </a:p>
        </p:txBody>
      </p:sp>
      <p:sp>
        <p:nvSpPr>
          <p:cNvPr id="7" name="Rectangle 6"/>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dirty="0"/>
          </a:p>
        </p:txBody>
      </p:sp>
      <p:sp>
        <p:nvSpPr>
          <p:cNvPr id="8" name="TextBox 7"/>
          <p:cNvSpPr txBox="1"/>
          <p:nvPr/>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pic>
        <p:nvPicPr>
          <p:cNvPr id="16" name="Picture 15"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userDrawn="1"/>
        </p:nvSpPr>
        <p:spPr>
          <a:xfrm>
            <a:off x="3792592" y="6613830"/>
            <a:ext cx="1558815" cy="138499"/>
          </a:xfrm>
          <a:prstGeom prst="rect">
            <a:avLst/>
          </a:prstGeom>
          <a:noFill/>
        </p:spPr>
        <p:txBody>
          <a:bodyPr wrap="square" lIns="0" tIns="0" rIns="0" bIns="0" rtlCol="0">
            <a:spAutoFit/>
          </a:bodyPr>
          <a:lstStyle/>
          <a:p>
            <a:pPr algn="ctr"/>
            <a:r>
              <a:rPr lang="en-US" sz="900" b="0" i="0" dirty="0" smtClean="0">
                <a:solidFill>
                  <a:schemeClr val="tx1">
                    <a:lumMod val="65000"/>
                    <a:lumOff val="35000"/>
                  </a:schemeClr>
                </a:solidFill>
                <a:latin typeface="Frutiger Next LT W1G"/>
                <a:cs typeface="Frutiger Next LT W1G"/>
              </a:rPr>
              <a:t>Autodesk Exchange for Revit</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08939727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2 column)">
    <p:spTree>
      <p:nvGrpSpPr>
        <p:cNvPr id="1" name=""/>
        <p:cNvGrpSpPr/>
        <p:nvPr/>
      </p:nvGrpSpPr>
      <p:grpSpPr>
        <a:xfrm>
          <a:off x="0" y="0"/>
          <a:ext cx="0" cy="0"/>
          <a:chOff x="0" y="0"/>
          <a:chExt cx="0" cy="0"/>
        </a:xfrm>
      </p:grpSpPr>
      <p:sp>
        <p:nvSpPr>
          <p:cNvPr id="8"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smtClean="0"/>
              <a:t>Click to edit Master title style</a:t>
            </a:r>
            <a:endParaRPr lang="en-US" dirty="0"/>
          </a:p>
        </p:txBody>
      </p:sp>
      <p:sp>
        <p:nvSpPr>
          <p:cNvPr id="13"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98441" indent="-339706">
              <a:buClr>
                <a:schemeClr val="accent4"/>
              </a:buClr>
              <a:buSzPct val="100000"/>
              <a:buFont typeface="Wingdings" pitchFamily="2" charset="2"/>
              <a:buChar char="§"/>
              <a:defRPr sz="2800" b="0"/>
            </a:lvl1pPr>
            <a:lvl2pPr marL="1011920" indent="-467958">
              <a:buClr>
                <a:schemeClr val="accent4"/>
              </a:buClr>
              <a:buSzPct val="100000"/>
              <a:buFont typeface="Wingdings" pitchFamily="2" charset="2"/>
              <a:buChar char="§"/>
              <a:defRPr sz="2300" b="0">
                <a:solidFill>
                  <a:schemeClr val="tx1"/>
                </a:solidFill>
              </a:defRPr>
            </a:lvl2pPr>
            <a:lvl3pPr marL="1344695" indent="-323971">
              <a:buClr>
                <a:schemeClr val="accent4"/>
              </a:buClr>
              <a:buSzPct val="100000"/>
              <a:buFont typeface="Wingdings" pitchFamily="2" charset="2"/>
              <a:buChar char="§"/>
              <a:defRPr sz="2000" b="0"/>
            </a:lvl3pPr>
            <a:lvl4pPr marL="1885453" indent="-323971">
              <a:buClr>
                <a:schemeClr val="accent4"/>
              </a:buClr>
              <a:buSzPct val="100000"/>
              <a:buFont typeface="Wingdings" pitchFamily="2" charset="2"/>
              <a:buChar char="§"/>
              <a:defRPr sz="1700" b="0"/>
            </a:lvl4pPr>
            <a:lvl5pPr marL="2390214" indent="-287974">
              <a:buClr>
                <a:schemeClr val="accent4"/>
              </a:buClr>
              <a:buSzPct val="100000"/>
              <a:buFont typeface="Wingdings" pitchFamily="2"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4" name="Content Placeholder 2"/>
          <p:cNvSpPr>
            <a:spLocks noGrp="1"/>
          </p:cNvSpPr>
          <p:nvPr>
            <p:ph idx="18"/>
          </p:nvPr>
        </p:nvSpPr>
        <p:spPr>
          <a:xfrm>
            <a:off x="4646614" y="1417640"/>
            <a:ext cx="4040187" cy="4767281"/>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6" name="Rectangle 5"/>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9" name="Picture 8"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1" name="TextBox 10"/>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32982385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Text and Images">
    <p:spTree>
      <p:nvGrpSpPr>
        <p:cNvPr id="1" name=""/>
        <p:cNvGrpSpPr/>
        <p:nvPr/>
      </p:nvGrpSpPr>
      <p:grpSpPr>
        <a:xfrm>
          <a:off x="0" y="0"/>
          <a:ext cx="0" cy="0"/>
          <a:chOff x="0" y="0"/>
          <a:chExt cx="0" cy="0"/>
        </a:xfrm>
      </p:grpSpPr>
      <p:sp>
        <p:nvSpPr>
          <p:cNvPr id="9" name="Picture Placeholder 6"/>
          <p:cNvSpPr>
            <a:spLocks noGrp="1"/>
          </p:cNvSpPr>
          <p:nvPr>
            <p:ph type="pic" sz="quarter" idx="13"/>
          </p:nvPr>
        </p:nvSpPr>
        <p:spPr>
          <a:xfrm>
            <a:off x="4646568" y="1417639"/>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a:solidFill>
                  <a:schemeClr val="accent4"/>
                </a:solidFill>
              </a:defRPr>
            </a:lvl1pPr>
          </a:lstStyle>
          <a:p>
            <a:r>
              <a:rPr lang="en-US" smtClean="0"/>
              <a:t>Click to edit Master title style</a:t>
            </a:r>
            <a:endParaRPr lang="en-US" dirty="0"/>
          </a:p>
        </p:txBody>
      </p:sp>
      <p:sp>
        <p:nvSpPr>
          <p:cNvPr id="17" name="Text Placeholder 16"/>
          <p:cNvSpPr>
            <a:spLocks noGrp="1"/>
          </p:cNvSpPr>
          <p:nvPr>
            <p:ph type="body" sz="quarter" idx="14" hasCustomPrompt="1"/>
          </p:nvPr>
        </p:nvSpPr>
        <p:spPr>
          <a:xfrm>
            <a:off x="4646568" y="3578380"/>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2"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1" name="Picture Placeholder 6"/>
          <p:cNvSpPr>
            <a:spLocks noGrp="1"/>
          </p:cNvSpPr>
          <p:nvPr>
            <p:ph type="pic" sz="quarter" idx="18"/>
          </p:nvPr>
        </p:nvSpPr>
        <p:spPr>
          <a:xfrm>
            <a:off x="4646568" y="3852667"/>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4" name="Text Placeholder 16"/>
          <p:cNvSpPr>
            <a:spLocks noGrp="1"/>
          </p:cNvSpPr>
          <p:nvPr>
            <p:ph type="body" sz="quarter" idx="19" hasCustomPrompt="1"/>
          </p:nvPr>
        </p:nvSpPr>
        <p:spPr>
          <a:xfrm>
            <a:off x="4646568" y="6013407"/>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8" name="Rectangle 17"/>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13" name="Picture 12"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9" name="TextBox 18"/>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24923577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2" name="Title 1"/>
          <p:cNvSpPr>
            <a:spLocks noGrp="1"/>
          </p:cNvSpPr>
          <p:nvPr>
            <p:ph type="title"/>
          </p:nvPr>
        </p:nvSpPr>
        <p:spPr>
          <a:xfrm>
            <a:off x="417260" y="256035"/>
            <a:ext cx="8266177" cy="996229"/>
          </a:xfrm>
          <a:prstGeom prst="rect">
            <a:avLst/>
          </a:prstGeom>
        </p:spPr>
        <p:txBody>
          <a:bodyPr lIns="57594" tIns="28797" rIns="57594" bIns="28797"/>
          <a:lstStyle>
            <a:lvl1pPr>
              <a:defRPr baseline="0">
                <a:solidFill>
                  <a:schemeClr val="accent4"/>
                </a:solidFill>
              </a:defRPr>
            </a:lvl1pPr>
          </a:lstStyle>
          <a:p>
            <a:r>
              <a:rPr lang="en-US" smtClean="0"/>
              <a:t>Click to edit Master title style</a:t>
            </a:r>
            <a:endParaRPr lang="en-US" dirty="0"/>
          </a:p>
        </p:txBody>
      </p:sp>
      <p:sp>
        <p:nvSpPr>
          <p:cNvPr id="3" name="Content Placeholder 2"/>
          <p:cNvSpPr>
            <a:spLocks noGrp="1"/>
          </p:cNvSpPr>
          <p:nvPr>
            <p:ph idx="1"/>
          </p:nvPr>
        </p:nvSpPr>
        <p:spPr>
          <a:xfrm>
            <a:off x="417260" y="1508760"/>
            <a:ext cx="8266177" cy="4709161"/>
          </a:xfrm>
          <a:prstGeom prst="rect">
            <a:avLst/>
          </a:prstGeom>
        </p:spPr>
        <p:txBody>
          <a:bodyPr lIns="57594" tIns="28797" rIns="57594" bIns="28797"/>
          <a:lstStyle>
            <a:lvl1pPr>
              <a:buClr>
                <a:schemeClr val="accent4"/>
              </a:buClr>
              <a:defRPr/>
            </a:lvl1pPr>
            <a:lvl2pPr>
              <a:buClr>
                <a:schemeClr val="accent4"/>
              </a:buClr>
              <a:defRPr/>
            </a:lvl2pPr>
            <a:lvl3pPr>
              <a:buClr>
                <a:schemeClr val="accent4"/>
              </a:buClr>
              <a:defRPr/>
            </a:lvl3pPr>
            <a:lvl4pPr>
              <a:buClr>
                <a:schemeClr val="accent4"/>
              </a:buClr>
              <a:defRPr/>
            </a:lvl4pPr>
            <a:lvl5pPr>
              <a:buClr>
                <a:schemeClr val="accent4"/>
              </a:buClr>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Slide Number Placeholder 3"/>
          <p:cNvSpPr>
            <a:spLocks noGrp="1"/>
          </p:cNvSpPr>
          <p:nvPr>
            <p:ph type="sldNum" sz="quarter" idx="10"/>
          </p:nvPr>
        </p:nvSpPr>
        <p:spPr>
          <a:xfrm>
            <a:off x="4277852" y="6452642"/>
            <a:ext cx="543077" cy="364331"/>
          </a:xfrm>
          <a:prstGeom prst="rect">
            <a:avLst/>
          </a:prstGeom>
        </p:spPr>
        <p:txBody>
          <a:bodyPr lIns="57594" tIns="28797" rIns="57594" bIns="28797"/>
          <a:lstStyle>
            <a:lvl1pPr algn="ctr">
              <a:defRPr sz="1800">
                <a:latin typeface="Frutiger Next LT W1G" pitchFamily="34" charset="0"/>
              </a:defRPr>
            </a:lvl1pPr>
          </a:lstStyle>
          <a:p>
            <a:fld id="{F734506C-EF52-4FF2-9904-C2A4DBD83A4B}" type="slidenum">
              <a:rPr lang="en-US" smtClean="0"/>
              <a:pPr/>
              <a:t>‹#›</a:t>
            </a:fld>
            <a:endParaRPr lang="en-US" dirty="0"/>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p:nvSpPr>
        <p:spPr>
          <a:xfrm>
            <a:off x="74081" y="6596295"/>
            <a:ext cx="1636572"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541264188"/>
      </p:ext>
    </p:extLst>
  </p:cSld>
  <p:clrMapOvr>
    <a:masterClrMapping/>
  </p:clrMapOvr>
  <p:transition/>
  <p:timing>
    <p:tnLst>
      <p:par>
        <p:cTn id="1" dur="indefinite" restart="never" nodeType="tmRoot"/>
      </p:par>
    </p:tnLst>
  </p:timing>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0" name="Title 9"/>
          <p:cNvSpPr>
            <a:spLocks noGrp="1"/>
          </p:cNvSpPr>
          <p:nvPr>
            <p:ph type="title" hasCustomPrompt="1"/>
          </p:nvPr>
        </p:nvSpPr>
        <p:spPr>
          <a:xfrm>
            <a:off x="457200" y="2745696"/>
            <a:ext cx="8229600" cy="1143000"/>
          </a:xfrm>
          <a:prstGeom prst="rect">
            <a:avLst/>
          </a:prstGeom>
        </p:spPr>
        <p:txBody>
          <a:bodyPr anchor="ctr"/>
          <a:lstStyle>
            <a:lvl1pPr algn="ctr">
              <a:defRPr sz="10000">
                <a:solidFill>
                  <a:schemeClr val="accent4"/>
                </a:solidFill>
              </a:defRPr>
            </a:lvl1pPr>
          </a:lstStyle>
          <a:p>
            <a:r>
              <a:rPr lang="en-US" dirty="0" smtClean="0"/>
              <a:t>Keyword</a:t>
            </a:r>
            <a:endParaRPr lang="en-US" dirty="0"/>
          </a:p>
        </p:txBody>
      </p:sp>
      <p:sp>
        <p:nvSpPr>
          <p:cNvPr id="6" name="TextBox 5"/>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658609359"/>
      </p:ext>
    </p:extLst>
  </p:cSld>
  <p:clrMapOvr>
    <a:masterClrMapping/>
  </p:clrMapOvr>
  <p:transition/>
  <p:timing>
    <p:tnLst>
      <p:par>
        <p:cTn id="1" dur="indefinite" restart="never" nodeType="tmRoot"/>
      </p:par>
    </p:tnLst>
  </p:timing>
  <p:hf sldNum="0"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4" name="TextBox 3"/>
          <p:cNvSpPr txBox="1"/>
          <p:nvPr/>
        </p:nvSpPr>
        <p:spPr>
          <a:xfrm>
            <a:off x="220961" y="6037116"/>
            <a:ext cx="8772932" cy="692497"/>
          </a:xfrm>
          <a:prstGeom prst="rect">
            <a:avLst/>
          </a:prstGeom>
          <a:noFill/>
        </p:spPr>
        <p:txBody>
          <a:bodyPr wrap="square" lIns="0" tIns="0" rIns="0" bIns="0" rtlCol="0">
            <a:spAutoFit/>
          </a:bodyPr>
          <a:lstStyle/>
          <a:p>
            <a:r>
              <a:rPr lang="en-US" sz="900" b="0" i="0" dirty="0" smtClean="0">
                <a:solidFill>
                  <a:schemeClr val="bg1">
                    <a:lumMod val="65000"/>
                  </a:schemeClr>
                </a:solidFill>
                <a:latin typeface="Frutiger Next LT W1G"/>
                <a:cs typeface="Frutiger Next LT W1G"/>
              </a:rPr>
              <a:t>Autodesk is a registered trademark of Autodesk, Inc., and/or its subsidiaries and/or affiliates in the USA and/or other countries. All other brand names, product names, or trademarks belong to their respective holders. Autodesk reserves the right to alter product and services offerings, and specifications and pricing at any time without notice, and is not responsible for typographical or graphical errors that may appear in this document.</a:t>
            </a:r>
          </a:p>
          <a:p>
            <a:endParaRPr lang="en-US" sz="900" b="0" i="0" dirty="0" smtClean="0">
              <a:solidFill>
                <a:schemeClr val="bg1">
                  <a:lumMod val="65000"/>
                </a:schemeClr>
              </a:solidFill>
              <a:latin typeface="Frutiger Next LT W1G"/>
              <a:cs typeface="Frutiger Next LT W1G"/>
            </a:endParaRPr>
          </a:p>
          <a:p>
            <a:r>
              <a:rPr lang="en-US" sz="900" b="0" i="0" dirty="0" smtClean="0">
                <a:solidFill>
                  <a:schemeClr val="bg1">
                    <a:lumMod val="65000"/>
                  </a:schemeClr>
                </a:solidFill>
                <a:latin typeface="Frutiger Next LT W1G"/>
                <a:cs typeface="Frutiger Next LT W1G"/>
              </a:rPr>
              <a:t>© 2013 Autodesk, Inc. All right</a:t>
            </a:r>
            <a:r>
              <a:rPr lang="en-US" sz="900" b="0" i="0" baseline="0" dirty="0" smtClean="0">
                <a:solidFill>
                  <a:schemeClr val="bg1">
                    <a:lumMod val="65000"/>
                  </a:schemeClr>
                </a:solidFill>
                <a:latin typeface="Frutiger Next LT W1G"/>
                <a:cs typeface="Frutiger Next LT W1G"/>
              </a:rPr>
              <a:t>s reserved.</a:t>
            </a:r>
            <a:endParaRPr lang="en-US" sz="900" b="0" i="0" dirty="0">
              <a:solidFill>
                <a:schemeClr val="bg1">
                  <a:lumMod val="65000"/>
                </a:schemeClr>
              </a:solidFill>
              <a:latin typeface="Frutiger Next LT W1G"/>
              <a:cs typeface="Frutiger Next LT W1G"/>
            </a:endParaRPr>
          </a:p>
        </p:txBody>
      </p:sp>
      <p:pic>
        <p:nvPicPr>
          <p:cNvPr id="6" name="Picture 5" descr="autodesk-logo-rgb-color-logo-black-text-large.png"/>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478612" y="2771429"/>
            <a:ext cx="6178740" cy="1035742"/>
          </a:xfrm>
          <a:prstGeom prst="rect">
            <a:avLst/>
          </a:prstGeom>
        </p:spPr>
      </p:pic>
    </p:spTree>
    <p:extLst>
      <p:ext uri="{BB962C8B-B14F-4D97-AF65-F5344CB8AC3E}">
        <p14:creationId xmlns:p14="http://schemas.microsoft.com/office/powerpoint/2010/main" val="2889972964"/>
      </p:ext>
    </p:extLst>
  </p:cSld>
  <p:clrMapOvr>
    <a:masterClrMapping/>
  </p:clrMapOvr>
  <p:timing>
    <p:tnLst>
      <p:par>
        <p:cTn id="1" dur="indefinite" restart="never" nodeType="tmRoot"/>
      </p:par>
    </p:tnLst>
  </p:timing>
  <p:hf sldNum="0" hd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0">
          <a:gsLst>
            <a:gs pos="0">
              <a:schemeClr val="bg1"/>
            </a:gs>
            <a:gs pos="100000">
              <a:schemeClr val="bg1">
                <a:lumMod val="65000"/>
                <a:alpha val="56000"/>
              </a:schemeClr>
            </a:gs>
            <a:gs pos="55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5124512"/>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3" r:id="rId5"/>
    <p:sldLayoutId id="2147483678" r:id="rId6"/>
    <p:sldLayoutId id="2147483672" r:id="rId7"/>
  </p:sldLayoutIdLst>
  <p:timing>
    <p:tnLst>
      <p:par>
        <p:cTn id="1" dur="indefinite" restart="never" nodeType="tmRoot"/>
      </p:par>
    </p:tnLst>
  </p:timing>
  <p:hf sldNum="0" hdr="0" dt="0"/>
  <p:txStyles>
    <p:titleStyle>
      <a:lvl1pPr algn="l" defTabSz="511960" rtl="0" eaLnBrk="1" latinLnBrk="0" hangingPunct="1">
        <a:spcBef>
          <a:spcPct val="0"/>
        </a:spcBef>
        <a:buNone/>
        <a:defRPr sz="2800" b="1" i="0" kern="1200" baseline="0">
          <a:solidFill>
            <a:srgbClr val="1B58A8"/>
          </a:solidFill>
          <a:latin typeface="Frutiger Next LT W1G"/>
          <a:ea typeface="+mj-ea"/>
          <a:cs typeface="Frutiger Next LT W1G"/>
        </a:defRPr>
      </a:lvl1pPr>
    </p:titleStyle>
    <p:bodyStyle>
      <a:lvl1pPr marL="431961" indent="-431961" algn="l" defTabSz="511960" rtl="0" eaLnBrk="1" latinLnBrk="0" hangingPunct="1">
        <a:spcBef>
          <a:spcPts val="0"/>
        </a:spcBef>
        <a:buFont typeface="Wingdings" charset="2"/>
        <a:buChar char="§"/>
        <a:defRPr sz="2800" b="0" i="0" kern="1200" baseline="0">
          <a:solidFill>
            <a:schemeClr val="tx1"/>
          </a:solidFill>
          <a:latin typeface="Frutiger Next LT W1G"/>
          <a:ea typeface="+mn-ea"/>
          <a:cs typeface="Frutiger Next LT W1G"/>
        </a:defRPr>
      </a:lvl1pPr>
      <a:lvl2pPr marL="831936" indent="-319975" algn="l" defTabSz="511960" rtl="0" eaLnBrk="1" latinLnBrk="0" hangingPunct="1">
        <a:spcBef>
          <a:spcPct val="20000"/>
        </a:spcBef>
        <a:buFont typeface="Wingdings" charset="2"/>
        <a:buChar char="§"/>
        <a:defRPr sz="2300" b="0" i="0" kern="1200">
          <a:solidFill>
            <a:schemeClr val="tx1"/>
          </a:solidFill>
          <a:latin typeface="Frutiger Next LT W1G"/>
          <a:ea typeface="+mn-ea"/>
          <a:cs typeface="Frutiger Next LT W1G"/>
        </a:defRPr>
      </a:lvl2pPr>
      <a:lvl3pPr marL="1279901" indent="-255981" algn="l" defTabSz="511960" rtl="0" eaLnBrk="1" latinLnBrk="0" hangingPunct="1">
        <a:spcBef>
          <a:spcPct val="20000"/>
        </a:spcBef>
        <a:buFont typeface="Wingdings" charset="2"/>
        <a:buChar char="§"/>
        <a:defRPr sz="2000" b="0" i="0" kern="1200">
          <a:solidFill>
            <a:schemeClr val="tx1"/>
          </a:solidFill>
          <a:latin typeface="Frutiger Next LT W1G"/>
          <a:ea typeface="+mn-ea"/>
          <a:cs typeface="Frutiger Next LT W1G"/>
        </a:defRPr>
      </a:lvl3pPr>
      <a:lvl4pPr marL="1791862" indent="-255981" algn="l" defTabSz="511960" rtl="0" eaLnBrk="1" latinLnBrk="0" hangingPunct="1">
        <a:spcBef>
          <a:spcPct val="20000"/>
        </a:spcBef>
        <a:buFont typeface="Wingdings" charset="2"/>
        <a:buChar char="§"/>
        <a:defRPr sz="1700" b="0" i="0" kern="1200">
          <a:solidFill>
            <a:schemeClr val="tx1"/>
          </a:solidFill>
          <a:latin typeface="Frutiger Next LT W1G"/>
          <a:ea typeface="+mn-ea"/>
          <a:cs typeface="Frutiger Next LT W1G"/>
        </a:defRPr>
      </a:lvl4pPr>
      <a:lvl5pPr marL="2303821" indent="-255981" algn="l" defTabSz="511960" rtl="0" eaLnBrk="1" latinLnBrk="0" hangingPunct="1">
        <a:spcBef>
          <a:spcPct val="20000"/>
        </a:spcBef>
        <a:buFont typeface="Wingdings" charset="2"/>
        <a:buChar char="§"/>
        <a:defRPr sz="1500" b="0" i="0" kern="1200">
          <a:solidFill>
            <a:schemeClr val="tx1"/>
          </a:solidFill>
          <a:latin typeface="Frutiger Next LT W1G"/>
          <a:ea typeface="+mn-ea"/>
          <a:cs typeface="Frutiger Next LT W1G"/>
        </a:defRPr>
      </a:lvl5pPr>
      <a:lvl6pPr marL="2815782" indent="-255981" algn="l" defTabSz="511960" rtl="0" eaLnBrk="1" latinLnBrk="0" hangingPunct="1">
        <a:spcBef>
          <a:spcPct val="20000"/>
        </a:spcBef>
        <a:buFont typeface="Arial"/>
        <a:buChar char="•"/>
        <a:defRPr sz="2300" kern="1200">
          <a:solidFill>
            <a:schemeClr val="tx1"/>
          </a:solidFill>
          <a:latin typeface="+mn-lt"/>
          <a:ea typeface="+mn-ea"/>
          <a:cs typeface="+mn-cs"/>
        </a:defRPr>
      </a:lvl6pPr>
      <a:lvl7pPr marL="3327742" indent="-255981" algn="l" defTabSz="511960" rtl="0" eaLnBrk="1" latinLnBrk="0" hangingPunct="1">
        <a:spcBef>
          <a:spcPct val="20000"/>
        </a:spcBef>
        <a:buFont typeface="Arial"/>
        <a:buChar char="•"/>
        <a:defRPr sz="2300" kern="1200">
          <a:solidFill>
            <a:schemeClr val="tx1"/>
          </a:solidFill>
          <a:latin typeface="+mn-lt"/>
          <a:ea typeface="+mn-ea"/>
          <a:cs typeface="+mn-cs"/>
        </a:defRPr>
      </a:lvl7pPr>
      <a:lvl8pPr marL="3839702" indent="-255981" algn="l" defTabSz="511960" rtl="0" eaLnBrk="1" latinLnBrk="0" hangingPunct="1">
        <a:spcBef>
          <a:spcPct val="20000"/>
        </a:spcBef>
        <a:buFont typeface="Arial"/>
        <a:buChar char="•"/>
        <a:defRPr sz="2300" kern="1200">
          <a:solidFill>
            <a:schemeClr val="tx1"/>
          </a:solidFill>
          <a:latin typeface="+mn-lt"/>
          <a:ea typeface="+mn-ea"/>
          <a:cs typeface="+mn-cs"/>
        </a:defRPr>
      </a:lvl8pPr>
      <a:lvl9pPr marL="4351662" indent="-255981" algn="l" defTabSz="511960" rtl="0" eaLnBrk="1" latinLnBrk="0" hangingPunct="1">
        <a:spcBef>
          <a:spcPct val="20000"/>
        </a:spcBef>
        <a:buFont typeface="Arial"/>
        <a:buChar char="•"/>
        <a:defRPr sz="2300" kern="1200">
          <a:solidFill>
            <a:schemeClr val="tx1"/>
          </a:solidFill>
          <a:latin typeface="+mn-lt"/>
          <a:ea typeface="+mn-ea"/>
          <a:cs typeface="+mn-cs"/>
        </a:defRPr>
      </a:lvl9pPr>
    </p:bodyStyle>
    <p:otherStyle>
      <a:defPPr>
        <a:defRPr lang="en-US"/>
      </a:defPPr>
      <a:lvl1pPr marL="0" algn="l" defTabSz="511960" rtl="0" eaLnBrk="1" latinLnBrk="0" hangingPunct="1">
        <a:defRPr sz="2000" kern="1200">
          <a:solidFill>
            <a:schemeClr val="tx1"/>
          </a:solidFill>
          <a:latin typeface="+mn-lt"/>
          <a:ea typeface="+mn-ea"/>
          <a:cs typeface="+mn-cs"/>
        </a:defRPr>
      </a:lvl1pPr>
      <a:lvl2pPr marL="511960" algn="l" defTabSz="511960" rtl="0" eaLnBrk="1" latinLnBrk="0" hangingPunct="1">
        <a:defRPr sz="2000" kern="1200">
          <a:solidFill>
            <a:schemeClr val="tx1"/>
          </a:solidFill>
          <a:latin typeface="+mn-lt"/>
          <a:ea typeface="+mn-ea"/>
          <a:cs typeface="+mn-cs"/>
        </a:defRPr>
      </a:lvl2pPr>
      <a:lvl3pPr marL="1023921" algn="l" defTabSz="511960" rtl="0" eaLnBrk="1" latinLnBrk="0" hangingPunct="1">
        <a:defRPr sz="2000" kern="1200">
          <a:solidFill>
            <a:schemeClr val="tx1"/>
          </a:solidFill>
          <a:latin typeface="+mn-lt"/>
          <a:ea typeface="+mn-ea"/>
          <a:cs typeface="+mn-cs"/>
        </a:defRPr>
      </a:lvl3pPr>
      <a:lvl4pPr marL="1535881" algn="l" defTabSz="511960" rtl="0" eaLnBrk="1" latinLnBrk="0" hangingPunct="1">
        <a:defRPr sz="2000" kern="1200">
          <a:solidFill>
            <a:schemeClr val="tx1"/>
          </a:solidFill>
          <a:latin typeface="+mn-lt"/>
          <a:ea typeface="+mn-ea"/>
          <a:cs typeface="+mn-cs"/>
        </a:defRPr>
      </a:lvl4pPr>
      <a:lvl5pPr marL="2047842" algn="l" defTabSz="511960" rtl="0" eaLnBrk="1" latinLnBrk="0" hangingPunct="1">
        <a:defRPr sz="2000" kern="1200">
          <a:solidFill>
            <a:schemeClr val="tx1"/>
          </a:solidFill>
          <a:latin typeface="+mn-lt"/>
          <a:ea typeface="+mn-ea"/>
          <a:cs typeface="+mn-cs"/>
        </a:defRPr>
      </a:lvl5pPr>
      <a:lvl6pPr marL="2559802" algn="l" defTabSz="511960" rtl="0" eaLnBrk="1" latinLnBrk="0" hangingPunct="1">
        <a:defRPr sz="2000" kern="1200">
          <a:solidFill>
            <a:schemeClr val="tx1"/>
          </a:solidFill>
          <a:latin typeface="+mn-lt"/>
          <a:ea typeface="+mn-ea"/>
          <a:cs typeface="+mn-cs"/>
        </a:defRPr>
      </a:lvl6pPr>
      <a:lvl7pPr marL="3071762" algn="l" defTabSz="511960" rtl="0" eaLnBrk="1" latinLnBrk="0" hangingPunct="1">
        <a:defRPr sz="2000" kern="1200">
          <a:solidFill>
            <a:schemeClr val="tx1"/>
          </a:solidFill>
          <a:latin typeface="+mn-lt"/>
          <a:ea typeface="+mn-ea"/>
          <a:cs typeface="+mn-cs"/>
        </a:defRPr>
      </a:lvl7pPr>
      <a:lvl8pPr marL="3583723" algn="l" defTabSz="511960" rtl="0" eaLnBrk="1" latinLnBrk="0" hangingPunct="1">
        <a:defRPr sz="2000" kern="1200">
          <a:solidFill>
            <a:schemeClr val="tx1"/>
          </a:solidFill>
          <a:latin typeface="+mn-lt"/>
          <a:ea typeface="+mn-ea"/>
          <a:cs typeface="+mn-cs"/>
        </a:defRPr>
      </a:lvl8pPr>
      <a:lvl9pPr marL="4095683" algn="l" defTabSz="511960" rtl="0" eaLnBrk="1" latinLnBrk="0" hangingPunct="1">
        <a:defRPr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hyperlink" Target="http://usa.autodesk.com/adsk/servlet/item?siteID=123112&amp;id=20149658" TargetMode="External"/><Relationship Id="rId3" Type="http://schemas.openxmlformats.org/officeDocument/2006/relationships/hyperlink" Target="http://www.autodesk.com/developapps" TargetMode="External"/><Relationship Id="rId7" Type="http://schemas.openxmlformats.org/officeDocument/2006/relationships/hyperlink" Target="http://usa.autodesk.com/adsk/servlet/item?siteID=123112&amp;id=20149725" TargetMode="External"/><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hyperlink" Target="http://usa.autodesk.com/adsk/servlet/item?siteID=123112&amp;id=20143097" TargetMode="External"/><Relationship Id="rId5" Type="http://schemas.openxmlformats.org/officeDocument/2006/relationships/hyperlink" Target="http://images.autodesk.com/adsk/files/app_submission__required_information1.doc" TargetMode="External"/><Relationship Id="rId4" Type="http://schemas.openxmlformats.org/officeDocument/2006/relationships/hyperlink" Target="http://images.autodesk.com/adsk/files/icons_publishers.zip"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457202" y="2432343"/>
            <a:ext cx="6019798" cy="1205087"/>
          </a:xfrm>
        </p:spPr>
        <p:txBody>
          <a:bodyPr/>
          <a:lstStyle/>
          <a:p>
            <a:r>
              <a:rPr lang="en-US" dirty="0" smtClean="0"/>
              <a:t>Preparing Publishing Information</a:t>
            </a:r>
            <a:endParaRPr lang="en-US" dirty="0"/>
          </a:p>
        </p:txBody>
      </p:sp>
      <p:sp>
        <p:nvSpPr>
          <p:cNvPr id="3" name="Text Placeholder 4"/>
          <p:cNvSpPr>
            <a:spLocks noGrp="1"/>
          </p:cNvSpPr>
          <p:nvPr>
            <p:ph type="body" sz="quarter" idx="14"/>
          </p:nvPr>
        </p:nvSpPr>
        <p:spPr>
          <a:xfrm>
            <a:off x="457202" y="2117128"/>
            <a:ext cx="5397358" cy="315214"/>
          </a:xfrm>
        </p:spPr>
        <p:txBody>
          <a:bodyPr/>
          <a:lstStyle/>
          <a:p>
            <a:r>
              <a:rPr lang="en-US" dirty="0"/>
              <a:t>Autodesk Exchange for Autodesk</a:t>
            </a:r>
            <a:r>
              <a:rPr lang="en-US" baseline="30000" dirty="0"/>
              <a:t>®</a:t>
            </a:r>
            <a:r>
              <a:rPr lang="en-US" dirty="0"/>
              <a:t> Revit</a:t>
            </a:r>
            <a:r>
              <a:rPr lang="en-US" baseline="30000" dirty="0"/>
              <a:t>®  </a:t>
            </a:r>
          </a:p>
        </p:txBody>
      </p:sp>
    </p:spTree>
    <p:extLst>
      <p:ext uri="{BB962C8B-B14F-4D97-AF65-F5344CB8AC3E}">
        <p14:creationId xmlns:p14="http://schemas.microsoft.com/office/powerpoint/2010/main" val="244438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Publishing Workflow Overview </a:t>
            </a:r>
            <a:endParaRPr lang="en-US" dirty="0"/>
          </a:p>
        </p:txBody>
      </p:sp>
      <p:grpSp>
        <p:nvGrpSpPr>
          <p:cNvPr id="11" name="Group 10"/>
          <p:cNvGrpSpPr/>
          <p:nvPr/>
        </p:nvGrpSpPr>
        <p:grpSpPr>
          <a:xfrm>
            <a:off x="1178288" y="2521199"/>
            <a:ext cx="5600141" cy="3083570"/>
            <a:chOff x="1886735" y="2423196"/>
            <a:chExt cx="6011003" cy="3309795"/>
          </a:xfrm>
        </p:grpSpPr>
        <p:sp>
          <p:nvSpPr>
            <p:cNvPr id="12" name="Freeform 11"/>
            <p:cNvSpPr/>
            <p:nvPr/>
          </p:nvSpPr>
          <p:spPr>
            <a:xfrm>
              <a:off x="3872160" y="4387251"/>
              <a:ext cx="1345740" cy="1345740"/>
            </a:xfrm>
            <a:custGeom>
              <a:avLst/>
              <a:gdLst>
                <a:gd name="connsiteX0" fmla="*/ 0 w 1430178"/>
                <a:gd name="connsiteY0" fmla="*/ 238368 h 1430178"/>
                <a:gd name="connsiteX1" fmla="*/ 238368 w 1430178"/>
                <a:gd name="connsiteY1" fmla="*/ 0 h 1430178"/>
                <a:gd name="connsiteX2" fmla="*/ 1191810 w 1430178"/>
                <a:gd name="connsiteY2" fmla="*/ 0 h 1430178"/>
                <a:gd name="connsiteX3" fmla="*/ 1430178 w 1430178"/>
                <a:gd name="connsiteY3" fmla="*/ 238368 h 1430178"/>
                <a:gd name="connsiteX4" fmla="*/ 1430178 w 1430178"/>
                <a:gd name="connsiteY4" fmla="*/ 1191810 h 1430178"/>
                <a:gd name="connsiteX5" fmla="*/ 1191810 w 1430178"/>
                <a:gd name="connsiteY5" fmla="*/ 1430178 h 1430178"/>
                <a:gd name="connsiteX6" fmla="*/ 238368 w 1430178"/>
                <a:gd name="connsiteY6" fmla="*/ 1430178 h 1430178"/>
                <a:gd name="connsiteX7" fmla="*/ 0 w 1430178"/>
                <a:gd name="connsiteY7" fmla="*/ 1191810 h 1430178"/>
                <a:gd name="connsiteX8" fmla="*/ 0 w 1430178"/>
                <a:gd name="connsiteY8" fmla="*/ 238368 h 143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0178" h="1430178">
                  <a:moveTo>
                    <a:pt x="0" y="238368"/>
                  </a:moveTo>
                  <a:cubicBezTo>
                    <a:pt x="0" y="106721"/>
                    <a:pt x="106721" y="0"/>
                    <a:pt x="238368" y="0"/>
                  </a:cubicBezTo>
                  <a:lnTo>
                    <a:pt x="1191810" y="0"/>
                  </a:lnTo>
                  <a:cubicBezTo>
                    <a:pt x="1323457" y="0"/>
                    <a:pt x="1430178" y="106721"/>
                    <a:pt x="1430178" y="238368"/>
                  </a:cubicBezTo>
                  <a:lnTo>
                    <a:pt x="1430178" y="1191810"/>
                  </a:lnTo>
                  <a:cubicBezTo>
                    <a:pt x="1430178" y="1323457"/>
                    <a:pt x="1323457" y="1430178"/>
                    <a:pt x="1191810" y="1430178"/>
                  </a:cubicBezTo>
                  <a:lnTo>
                    <a:pt x="238368" y="1430178"/>
                  </a:lnTo>
                  <a:cubicBezTo>
                    <a:pt x="106721" y="1430178"/>
                    <a:pt x="0" y="1323457"/>
                    <a:pt x="0" y="1191810"/>
                  </a:cubicBezTo>
                  <a:lnTo>
                    <a:pt x="0" y="238368"/>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110456" tIns="110456" rIns="110456" bIns="110456" numCol="1" spcCol="1270" anchor="ctr" anchorCtr="0">
              <a:noAutofit/>
            </a:bodyPr>
            <a:lstStyle/>
            <a:p>
              <a:pPr lvl="0" algn="ctr" defTabSz="711200">
                <a:lnSpc>
                  <a:spcPct val="90000"/>
                </a:lnSpc>
                <a:spcBef>
                  <a:spcPct val="0"/>
                </a:spcBef>
                <a:spcAft>
                  <a:spcPct val="35000"/>
                </a:spcAft>
              </a:pPr>
              <a:r>
                <a:rPr lang="en-US" sz="1600" b="1" kern="1200" dirty="0" smtClean="0"/>
                <a:t>2. Publish-</a:t>
              </a:r>
              <a:r>
                <a:rPr lang="en-US" sz="1600" b="1" kern="1200" dirty="0" err="1" smtClean="0"/>
                <a:t>ing</a:t>
              </a:r>
              <a:r>
                <a:rPr lang="en-US" sz="1600" b="1" kern="1200" dirty="0" smtClean="0"/>
                <a:t> Info. </a:t>
              </a:r>
              <a:endParaRPr lang="en-US" sz="1400" b="1" kern="1200" dirty="0"/>
            </a:p>
          </p:txBody>
        </p:sp>
        <p:sp>
          <p:nvSpPr>
            <p:cNvPr id="14" name="Freeform 13"/>
            <p:cNvSpPr/>
            <p:nvPr/>
          </p:nvSpPr>
          <p:spPr>
            <a:xfrm>
              <a:off x="3834684" y="2423196"/>
              <a:ext cx="1383217" cy="1383217"/>
            </a:xfrm>
            <a:custGeom>
              <a:avLst/>
              <a:gdLst>
                <a:gd name="connsiteX0" fmla="*/ 0 w 1505104"/>
                <a:gd name="connsiteY0" fmla="*/ 250856 h 1505104"/>
                <a:gd name="connsiteX1" fmla="*/ 250856 w 1505104"/>
                <a:gd name="connsiteY1" fmla="*/ 0 h 1505104"/>
                <a:gd name="connsiteX2" fmla="*/ 1254248 w 1505104"/>
                <a:gd name="connsiteY2" fmla="*/ 0 h 1505104"/>
                <a:gd name="connsiteX3" fmla="*/ 1505104 w 1505104"/>
                <a:gd name="connsiteY3" fmla="*/ 250856 h 1505104"/>
                <a:gd name="connsiteX4" fmla="*/ 1505104 w 1505104"/>
                <a:gd name="connsiteY4" fmla="*/ 1254248 h 1505104"/>
                <a:gd name="connsiteX5" fmla="*/ 1254248 w 1505104"/>
                <a:gd name="connsiteY5" fmla="*/ 1505104 h 1505104"/>
                <a:gd name="connsiteX6" fmla="*/ 250856 w 1505104"/>
                <a:gd name="connsiteY6" fmla="*/ 1505104 h 1505104"/>
                <a:gd name="connsiteX7" fmla="*/ 0 w 1505104"/>
                <a:gd name="connsiteY7" fmla="*/ 1254248 h 1505104"/>
                <a:gd name="connsiteX8" fmla="*/ 0 w 1505104"/>
                <a:gd name="connsiteY8" fmla="*/ 250856 h 1505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5104" h="1505104">
                  <a:moveTo>
                    <a:pt x="0" y="250856"/>
                  </a:moveTo>
                  <a:cubicBezTo>
                    <a:pt x="0" y="112312"/>
                    <a:pt x="112312" y="0"/>
                    <a:pt x="250856" y="0"/>
                  </a:cubicBezTo>
                  <a:lnTo>
                    <a:pt x="1254248" y="0"/>
                  </a:lnTo>
                  <a:cubicBezTo>
                    <a:pt x="1392792" y="0"/>
                    <a:pt x="1505104" y="112312"/>
                    <a:pt x="1505104" y="250856"/>
                  </a:cubicBezTo>
                  <a:lnTo>
                    <a:pt x="1505104" y="1254248"/>
                  </a:lnTo>
                  <a:cubicBezTo>
                    <a:pt x="1505104" y="1392792"/>
                    <a:pt x="1392792" y="1505104"/>
                    <a:pt x="1254248" y="1505104"/>
                  </a:cubicBezTo>
                  <a:lnTo>
                    <a:pt x="250856" y="1505104"/>
                  </a:lnTo>
                  <a:cubicBezTo>
                    <a:pt x="112312" y="1505104"/>
                    <a:pt x="0" y="1392792"/>
                    <a:pt x="0" y="1254248"/>
                  </a:cubicBezTo>
                  <a:lnTo>
                    <a:pt x="0" y="250856"/>
                  </a:lnTo>
                  <a:close/>
                </a:path>
              </a:pathLst>
            </a:custGeom>
          </p:spPr>
          <p:style>
            <a:lnRef idx="2">
              <a:schemeClr val="lt1">
                <a:hueOff val="0"/>
                <a:satOff val="0"/>
                <a:lumOff val="0"/>
                <a:alphaOff val="0"/>
              </a:schemeClr>
            </a:lnRef>
            <a:fillRef idx="1">
              <a:schemeClr val="accent3">
                <a:hueOff val="503628"/>
                <a:satOff val="12197"/>
                <a:lumOff val="-1111"/>
                <a:alphaOff val="0"/>
              </a:schemeClr>
            </a:fillRef>
            <a:effectRef idx="0">
              <a:schemeClr val="accent3">
                <a:hueOff val="503628"/>
                <a:satOff val="12197"/>
                <a:lumOff val="-1111"/>
                <a:alphaOff val="0"/>
              </a:schemeClr>
            </a:effectRef>
            <a:fontRef idx="minor">
              <a:schemeClr val="lt1"/>
            </a:fontRef>
          </p:style>
          <p:txBody>
            <a:bodyPr spcFirstLastPara="0" vert="horz" wrap="square" lIns="114113" tIns="114113" rIns="114113" bIns="114113" numCol="1" spcCol="1270" anchor="ctr" anchorCtr="0">
              <a:noAutofit/>
            </a:bodyPr>
            <a:lstStyle/>
            <a:p>
              <a:pPr lvl="0" algn="ctr" defTabSz="711200">
                <a:lnSpc>
                  <a:spcPct val="90000"/>
                </a:lnSpc>
                <a:spcBef>
                  <a:spcPct val="0"/>
                </a:spcBef>
                <a:spcAft>
                  <a:spcPct val="35000"/>
                </a:spcAft>
              </a:pPr>
              <a:r>
                <a:rPr lang="en-US" sz="1600" b="1" kern="1200" dirty="0" smtClean="0"/>
                <a:t>1. App</a:t>
              </a:r>
              <a:endParaRPr lang="en-US" sz="1400" b="1" kern="1200" dirty="0"/>
            </a:p>
          </p:txBody>
        </p:sp>
        <p:sp>
          <p:nvSpPr>
            <p:cNvPr id="16" name="Freeform 15"/>
            <p:cNvSpPr/>
            <p:nvPr/>
          </p:nvSpPr>
          <p:spPr>
            <a:xfrm>
              <a:off x="6694680" y="3646673"/>
              <a:ext cx="1203058" cy="958219"/>
            </a:xfrm>
            <a:custGeom>
              <a:avLst/>
              <a:gdLst>
                <a:gd name="connsiteX0" fmla="*/ 0 w 958219"/>
                <a:gd name="connsiteY0" fmla="*/ 159706 h 958219"/>
                <a:gd name="connsiteX1" fmla="*/ 159706 w 958219"/>
                <a:gd name="connsiteY1" fmla="*/ 0 h 958219"/>
                <a:gd name="connsiteX2" fmla="*/ 798513 w 958219"/>
                <a:gd name="connsiteY2" fmla="*/ 0 h 958219"/>
                <a:gd name="connsiteX3" fmla="*/ 958219 w 958219"/>
                <a:gd name="connsiteY3" fmla="*/ 159706 h 958219"/>
                <a:gd name="connsiteX4" fmla="*/ 958219 w 958219"/>
                <a:gd name="connsiteY4" fmla="*/ 798513 h 958219"/>
                <a:gd name="connsiteX5" fmla="*/ 798513 w 958219"/>
                <a:gd name="connsiteY5" fmla="*/ 958219 h 958219"/>
                <a:gd name="connsiteX6" fmla="*/ 159706 w 958219"/>
                <a:gd name="connsiteY6" fmla="*/ 958219 h 958219"/>
                <a:gd name="connsiteX7" fmla="*/ 0 w 958219"/>
                <a:gd name="connsiteY7" fmla="*/ 798513 h 958219"/>
                <a:gd name="connsiteX8" fmla="*/ 0 w 958219"/>
                <a:gd name="connsiteY8" fmla="*/ 159706 h 9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8219" h="958219">
                  <a:moveTo>
                    <a:pt x="0" y="159706"/>
                  </a:moveTo>
                  <a:cubicBezTo>
                    <a:pt x="0" y="71503"/>
                    <a:pt x="71503" y="0"/>
                    <a:pt x="159706" y="0"/>
                  </a:cubicBezTo>
                  <a:lnTo>
                    <a:pt x="798513" y="0"/>
                  </a:lnTo>
                  <a:cubicBezTo>
                    <a:pt x="886716" y="0"/>
                    <a:pt x="958219" y="71503"/>
                    <a:pt x="958219" y="159706"/>
                  </a:cubicBezTo>
                  <a:lnTo>
                    <a:pt x="958219" y="798513"/>
                  </a:lnTo>
                  <a:cubicBezTo>
                    <a:pt x="958219" y="886716"/>
                    <a:pt x="886716" y="958219"/>
                    <a:pt x="798513" y="958219"/>
                  </a:cubicBezTo>
                  <a:lnTo>
                    <a:pt x="159706" y="958219"/>
                  </a:lnTo>
                  <a:cubicBezTo>
                    <a:pt x="71503" y="958219"/>
                    <a:pt x="0" y="886716"/>
                    <a:pt x="0" y="798513"/>
                  </a:cubicBezTo>
                  <a:lnTo>
                    <a:pt x="0" y="159706"/>
                  </a:lnTo>
                  <a:close/>
                </a:path>
              </a:pathLst>
            </a:custGeom>
          </p:spPr>
          <p:style>
            <a:lnRef idx="2">
              <a:schemeClr val="accent2"/>
            </a:lnRef>
            <a:fillRef idx="1">
              <a:schemeClr val="lt1"/>
            </a:fillRef>
            <a:effectRef idx="0">
              <a:schemeClr val="accent2"/>
            </a:effectRef>
            <a:fontRef idx="minor">
              <a:schemeClr val="dk1"/>
            </a:fontRef>
          </p:style>
          <p:txBody>
            <a:bodyPr spcFirstLastPara="0" vert="horz" wrap="square" lIns="84876" tIns="84876" rIns="84876" bIns="84876" numCol="1" spcCol="1270" anchor="ctr" anchorCtr="0">
              <a:noAutofit/>
            </a:bodyPr>
            <a:lstStyle/>
            <a:p>
              <a:pPr lvl="0" algn="ctr" defTabSz="666750">
                <a:lnSpc>
                  <a:spcPct val="90000"/>
                </a:lnSpc>
                <a:spcBef>
                  <a:spcPct val="0"/>
                </a:spcBef>
                <a:spcAft>
                  <a:spcPct val="35000"/>
                </a:spcAft>
              </a:pPr>
              <a:r>
                <a:rPr lang="en-US" sz="1500" b="1" kern="1200" dirty="0" smtClean="0"/>
                <a:t>Autodesk</a:t>
              </a:r>
              <a:endParaRPr lang="en-US" sz="1500" b="1" kern="1200" dirty="0"/>
            </a:p>
          </p:txBody>
        </p:sp>
        <p:sp>
          <p:nvSpPr>
            <p:cNvPr id="18" name="Freeform 17"/>
            <p:cNvSpPr/>
            <p:nvPr/>
          </p:nvSpPr>
          <p:spPr>
            <a:xfrm>
              <a:off x="1886735" y="3594982"/>
              <a:ext cx="1128276" cy="958219"/>
            </a:xfrm>
            <a:custGeom>
              <a:avLst/>
              <a:gdLst>
                <a:gd name="connsiteX0" fmla="*/ 0 w 958219"/>
                <a:gd name="connsiteY0" fmla="*/ 159706 h 958219"/>
                <a:gd name="connsiteX1" fmla="*/ 159706 w 958219"/>
                <a:gd name="connsiteY1" fmla="*/ 0 h 958219"/>
                <a:gd name="connsiteX2" fmla="*/ 798513 w 958219"/>
                <a:gd name="connsiteY2" fmla="*/ 0 h 958219"/>
                <a:gd name="connsiteX3" fmla="*/ 958219 w 958219"/>
                <a:gd name="connsiteY3" fmla="*/ 159706 h 958219"/>
                <a:gd name="connsiteX4" fmla="*/ 958219 w 958219"/>
                <a:gd name="connsiteY4" fmla="*/ 798513 h 958219"/>
                <a:gd name="connsiteX5" fmla="*/ 798513 w 958219"/>
                <a:gd name="connsiteY5" fmla="*/ 958219 h 958219"/>
                <a:gd name="connsiteX6" fmla="*/ 159706 w 958219"/>
                <a:gd name="connsiteY6" fmla="*/ 958219 h 958219"/>
                <a:gd name="connsiteX7" fmla="*/ 0 w 958219"/>
                <a:gd name="connsiteY7" fmla="*/ 798513 h 958219"/>
                <a:gd name="connsiteX8" fmla="*/ 0 w 958219"/>
                <a:gd name="connsiteY8" fmla="*/ 159706 h 958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8219" h="958219">
                  <a:moveTo>
                    <a:pt x="0" y="159706"/>
                  </a:moveTo>
                  <a:cubicBezTo>
                    <a:pt x="0" y="71503"/>
                    <a:pt x="71503" y="0"/>
                    <a:pt x="159706" y="0"/>
                  </a:cubicBezTo>
                  <a:lnTo>
                    <a:pt x="798513" y="0"/>
                  </a:lnTo>
                  <a:cubicBezTo>
                    <a:pt x="886716" y="0"/>
                    <a:pt x="958219" y="71503"/>
                    <a:pt x="958219" y="159706"/>
                  </a:cubicBezTo>
                  <a:lnTo>
                    <a:pt x="958219" y="798513"/>
                  </a:lnTo>
                  <a:cubicBezTo>
                    <a:pt x="958219" y="886716"/>
                    <a:pt x="886716" y="958219"/>
                    <a:pt x="798513" y="958219"/>
                  </a:cubicBezTo>
                  <a:lnTo>
                    <a:pt x="159706" y="958219"/>
                  </a:lnTo>
                  <a:cubicBezTo>
                    <a:pt x="71503" y="958219"/>
                    <a:pt x="0" y="886716"/>
                    <a:pt x="0" y="798513"/>
                  </a:cubicBezTo>
                  <a:lnTo>
                    <a:pt x="0" y="159706"/>
                  </a:lnTo>
                  <a:close/>
                </a:path>
              </a:pathLst>
            </a:custGeom>
          </p:spPr>
          <p:style>
            <a:lnRef idx="2">
              <a:schemeClr val="accent4"/>
            </a:lnRef>
            <a:fillRef idx="1">
              <a:schemeClr val="lt1"/>
            </a:fillRef>
            <a:effectRef idx="0">
              <a:schemeClr val="accent4"/>
            </a:effectRef>
            <a:fontRef idx="minor">
              <a:schemeClr val="dk1"/>
            </a:fontRef>
          </p:style>
          <p:txBody>
            <a:bodyPr spcFirstLastPara="0" vert="horz" wrap="square" lIns="79796" tIns="79796" rIns="79796" bIns="79796" numCol="1" spcCol="1270" anchor="ctr" anchorCtr="0">
              <a:noAutofit/>
            </a:bodyPr>
            <a:lstStyle/>
            <a:p>
              <a:pPr lvl="0" algn="ctr" defTabSz="577850">
                <a:lnSpc>
                  <a:spcPct val="90000"/>
                </a:lnSpc>
                <a:spcBef>
                  <a:spcPct val="0"/>
                </a:spcBef>
                <a:spcAft>
                  <a:spcPct val="35000"/>
                </a:spcAft>
              </a:pPr>
              <a:r>
                <a:rPr lang="en-US" sz="1200" b="1" kern="1200" dirty="0" smtClean="0"/>
                <a:t>Publisher (developer)</a:t>
              </a:r>
              <a:endParaRPr lang="en-US" sz="1200" b="1" kern="1200" dirty="0"/>
            </a:p>
          </p:txBody>
        </p:sp>
      </p:grpSp>
      <p:sp>
        <p:nvSpPr>
          <p:cNvPr id="10" name="Rounded Rectangle 9"/>
          <p:cNvSpPr/>
          <p:nvPr/>
        </p:nvSpPr>
        <p:spPr>
          <a:xfrm>
            <a:off x="2586780" y="2369438"/>
            <a:ext cx="2031884" cy="3314314"/>
          </a:xfrm>
          <a:prstGeom prst="roundRect">
            <a:avLst/>
          </a:prstGeom>
          <a:noFill/>
          <a:ln w="28575">
            <a:solidFill>
              <a:schemeClr val="accent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Cross 18"/>
          <p:cNvSpPr/>
          <p:nvPr/>
        </p:nvSpPr>
        <p:spPr>
          <a:xfrm>
            <a:off x="3447002" y="3896667"/>
            <a:ext cx="380851" cy="380851"/>
          </a:xfrm>
          <a:prstGeom prst="plus">
            <a:avLst>
              <a:gd name="adj" fmla="val 39444"/>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Right Arrow 20"/>
          <p:cNvSpPr/>
          <p:nvPr/>
        </p:nvSpPr>
        <p:spPr>
          <a:xfrm>
            <a:off x="4281766" y="3956211"/>
            <a:ext cx="955364" cy="255483"/>
          </a:xfrm>
          <a:prstGeom prst="rightArrow">
            <a:avLst>
              <a:gd name="adj1" fmla="val 37037"/>
              <a:gd name="adj2" fmla="val 50000"/>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Circular Arrow 22"/>
          <p:cNvSpPr/>
          <p:nvPr/>
        </p:nvSpPr>
        <p:spPr>
          <a:xfrm rot="7327507">
            <a:off x="1358457" y="1928527"/>
            <a:ext cx="4424655" cy="4424655"/>
          </a:xfrm>
          <a:prstGeom prst="circularArrow">
            <a:avLst>
              <a:gd name="adj1" fmla="val 2884"/>
              <a:gd name="adj2" fmla="val 343712"/>
              <a:gd name="adj3" fmla="val 561795"/>
              <a:gd name="adj4" fmla="val 16654738"/>
              <a:gd name="adj5" fmla="val 3783"/>
            </a:avLst>
          </a:prstGeom>
          <a:solidFill>
            <a:schemeClr val="accent3">
              <a:lumMod val="40000"/>
              <a:lumOff val="60000"/>
            </a:schemeClr>
          </a:solidFill>
          <a:ln w="19050">
            <a:solidFill>
              <a:schemeClr val="accent3"/>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5" name="Circular Arrow 24"/>
          <p:cNvSpPr/>
          <p:nvPr/>
        </p:nvSpPr>
        <p:spPr>
          <a:xfrm rot="18215866">
            <a:off x="1390394" y="1850581"/>
            <a:ext cx="4424655" cy="4424655"/>
          </a:xfrm>
          <a:prstGeom prst="circularArrow">
            <a:avLst>
              <a:gd name="adj1" fmla="val 2884"/>
              <a:gd name="adj2" fmla="val 343712"/>
              <a:gd name="adj3" fmla="val 561795"/>
              <a:gd name="adj4" fmla="val 16711679"/>
              <a:gd name="adj5" fmla="val 3783"/>
            </a:avLst>
          </a:prstGeom>
          <a:solidFill>
            <a:schemeClr val="accent3">
              <a:lumMod val="40000"/>
              <a:lumOff val="60000"/>
            </a:schemeClr>
          </a:solidFill>
          <a:ln w="19050">
            <a:solidFill>
              <a:schemeClr val="accent3"/>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2" name="Bent Arrow 21"/>
          <p:cNvSpPr/>
          <p:nvPr/>
        </p:nvSpPr>
        <p:spPr>
          <a:xfrm rot="5400000" flipH="1">
            <a:off x="6852501" y="3271935"/>
            <a:ext cx="941878" cy="868680"/>
          </a:xfrm>
          <a:prstGeom prst="bentArrow">
            <a:avLst>
              <a:gd name="adj1" fmla="val 12516"/>
              <a:gd name="adj2" fmla="val 15013"/>
              <a:gd name="adj3" fmla="val 25000"/>
              <a:gd name="adj4" fmla="val 43750"/>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cxnSp>
        <p:nvCxnSpPr>
          <p:cNvPr id="28" name="Straight Connector 27"/>
          <p:cNvCxnSpPr/>
          <p:nvPr/>
        </p:nvCxnSpPr>
        <p:spPr>
          <a:xfrm>
            <a:off x="2229446" y="4059253"/>
            <a:ext cx="357334" cy="0"/>
          </a:xfrm>
          <a:prstGeom prst="line">
            <a:avLst/>
          </a:prstGeom>
          <a:ln>
            <a:solidFill>
              <a:schemeClr val="accent4"/>
            </a:solidFill>
          </a:ln>
        </p:spPr>
        <p:style>
          <a:lnRef idx="2">
            <a:schemeClr val="accent1"/>
          </a:lnRef>
          <a:fillRef idx="0">
            <a:schemeClr val="accent1"/>
          </a:fillRef>
          <a:effectRef idx="1">
            <a:schemeClr val="accent1"/>
          </a:effectRef>
          <a:fontRef idx="minor">
            <a:schemeClr val="tx1"/>
          </a:fontRef>
        </p:style>
      </p:cxnSp>
      <p:sp>
        <p:nvSpPr>
          <p:cNvPr id="1025" name="TextBox 1024"/>
          <p:cNvSpPr txBox="1"/>
          <p:nvPr/>
        </p:nvSpPr>
        <p:spPr>
          <a:xfrm>
            <a:off x="3231533" y="3379662"/>
            <a:ext cx="846707" cy="461665"/>
          </a:xfrm>
          <a:prstGeom prst="rect">
            <a:avLst/>
          </a:prstGeom>
          <a:noFill/>
        </p:spPr>
        <p:txBody>
          <a:bodyPr wrap="none" rtlCol="0">
            <a:spAutoFit/>
          </a:bodyPr>
          <a:lstStyle/>
          <a:p>
            <a:pPr algn="ctr"/>
            <a:r>
              <a:rPr lang="en-US" sz="1200" dirty="0" smtClean="0"/>
              <a:t>.bundle </a:t>
            </a:r>
            <a:br>
              <a:rPr lang="en-US" sz="1200" dirty="0" smtClean="0"/>
            </a:br>
            <a:r>
              <a:rPr lang="en-US" sz="1200" dirty="0" smtClean="0"/>
              <a:t>Guidelines</a:t>
            </a:r>
            <a:endParaRPr lang="en-US" sz="1200" dirty="0"/>
          </a:p>
        </p:txBody>
      </p:sp>
      <p:sp>
        <p:nvSpPr>
          <p:cNvPr id="1027" name="TextBox 1026"/>
          <p:cNvSpPr txBox="1"/>
          <p:nvPr/>
        </p:nvSpPr>
        <p:spPr>
          <a:xfrm>
            <a:off x="3111253" y="5143104"/>
            <a:ext cx="1212191" cy="461665"/>
          </a:xfrm>
          <a:prstGeom prst="rect">
            <a:avLst/>
          </a:prstGeom>
          <a:noFill/>
        </p:spPr>
        <p:txBody>
          <a:bodyPr wrap="none" rtlCol="0">
            <a:spAutoFit/>
          </a:bodyPr>
          <a:lstStyle/>
          <a:p>
            <a:r>
              <a:rPr lang="en-US" sz="1200" dirty="0" smtClean="0"/>
              <a:t>Icons, help files,</a:t>
            </a:r>
          </a:p>
          <a:p>
            <a:r>
              <a:rPr lang="en-US" sz="1200" dirty="0" smtClean="0"/>
              <a:t> contact, etc.</a:t>
            </a:r>
            <a:endParaRPr lang="en-US" sz="1200" dirty="0"/>
          </a:p>
        </p:txBody>
      </p:sp>
      <p:sp>
        <p:nvSpPr>
          <p:cNvPr id="1028" name="TextBox 1027"/>
          <p:cNvSpPr txBox="1"/>
          <p:nvPr/>
        </p:nvSpPr>
        <p:spPr>
          <a:xfrm>
            <a:off x="6728326" y="2915648"/>
            <a:ext cx="2014398" cy="307777"/>
          </a:xfrm>
          <a:prstGeom prst="rect">
            <a:avLst/>
          </a:prstGeom>
          <a:noFill/>
        </p:spPr>
        <p:txBody>
          <a:bodyPr wrap="none" rtlCol="0">
            <a:spAutoFit/>
          </a:bodyPr>
          <a:lstStyle/>
          <a:p>
            <a:r>
              <a:rPr lang="en-US" sz="1400" b="1" dirty="0" smtClean="0"/>
              <a:t>7. Go live on the store</a:t>
            </a:r>
            <a:endParaRPr lang="en-US" sz="1400" b="1" dirty="0"/>
          </a:p>
        </p:txBody>
      </p:sp>
      <p:sp>
        <p:nvSpPr>
          <p:cNvPr id="1029" name="Rounded Rectangle 1028"/>
          <p:cNvSpPr/>
          <p:nvPr/>
        </p:nvSpPr>
        <p:spPr>
          <a:xfrm>
            <a:off x="2971961" y="4290044"/>
            <a:ext cx="1365846" cy="1356976"/>
          </a:xfrm>
          <a:prstGeom prst="roundRect">
            <a:avLst/>
          </a:prstGeom>
          <a:noFill/>
          <a:ln w="381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TextBox 37"/>
          <p:cNvSpPr txBox="1"/>
          <p:nvPr/>
        </p:nvSpPr>
        <p:spPr>
          <a:xfrm>
            <a:off x="4320323" y="3432991"/>
            <a:ext cx="1309974" cy="523220"/>
          </a:xfrm>
          <a:prstGeom prst="rect">
            <a:avLst/>
          </a:prstGeom>
          <a:noFill/>
        </p:spPr>
        <p:txBody>
          <a:bodyPr wrap="none" rtlCol="0">
            <a:spAutoFit/>
          </a:bodyPr>
          <a:lstStyle/>
          <a:p>
            <a:r>
              <a:rPr lang="en-US" sz="1400" b="1" dirty="0" smtClean="0"/>
              <a:t>3. Initial</a:t>
            </a:r>
            <a:br>
              <a:rPr lang="en-US" sz="1400" b="1" dirty="0" smtClean="0"/>
            </a:br>
            <a:r>
              <a:rPr lang="en-US" sz="1400" b="1" dirty="0" smtClean="0"/>
              <a:t>    submission</a:t>
            </a:r>
            <a:endParaRPr lang="en-US" sz="1400" b="1" dirty="0"/>
          </a:p>
        </p:txBody>
      </p:sp>
      <p:sp>
        <p:nvSpPr>
          <p:cNvPr id="39" name="TextBox 38"/>
          <p:cNvSpPr txBox="1"/>
          <p:nvPr/>
        </p:nvSpPr>
        <p:spPr>
          <a:xfrm>
            <a:off x="5283180" y="4670680"/>
            <a:ext cx="1875770" cy="307777"/>
          </a:xfrm>
          <a:prstGeom prst="rect">
            <a:avLst/>
          </a:prstGeom>
          <a:noFill/>
        </p:spPr>
        <p:txBody>
          <a:bodyPr wrap="none" rtlCol="0">
            <a:spAutoFit/>
          </a:bodyPr>
          <a:lstStyle/>
          <a:p>
            <a:r>
              <a:rPr lang="en-US" sz="1400" b="1" dirty="0" smtClean="0"/>
              <a:t>4. Packaging/testing</a:t>
            </a:r>
            <a:endParaRPr lang="en-US" sz="1400" b="1" dirty="0"/>
          </a:p>
        </p:txBody>
      </p:sp>
      <p:sp>
        <p:nvSpPr>
          <p:cNvPr id="40" name="TextBox 39"/>
          <p:cNvSpPr txBox="1"/>
          <p:nvPr/>
        </p:nvSpPr>
        <p:spPr>
          <a:xfrm>
            <a:off x="4551761" y="5926482"/>
            <a:ext cx="2393797" cy="523220"/>
          </a:xfrm>
          <a:prstGeom prst="rect">
            <a:avLst/>
          </a:prstGeom>
          <a:noFill/>
        </p:spPr>
        <p:txBody>
          <a:bodyPr wrap="none" rtlCol="0">
            <a:spAutoFit/>
          </a:bodyPr>
          <a:lstStyle/>
          <a:p>
            <a:r>
              <a:rPr lang="en-US" sz="1400" b="1" dirty="0" smtClean="0"/>
              <a:t>5. Send updated bundle or</a:t>
            </a:r>
            <a:br>
              <a:rPr lang="en-US" sz="1400" b="1" dirty="0" smtClean="0"/>
            </a:br>
            <a:r>
              <a:rPr lang="en-US" sz="1400" b="1" dirty="0" smtClean="0"/>
              <a:t>    </a:t>
            </a:r>
            <a:r>
              <a:rPr lang="en-US" sz="1400" b="1" dirty="0" err="1" smtClean="0"/>
              <a:t>msi</a:t>
            </a:r>
            <a:r>
              <a:rPr lang="en-US" sz="1400" b="1" dirty="0" smtClean="0"/>
              <a:t> for testing </a:t>
            </a:r>
            <a:endParaRPr lang="en-US" sz="1400" b="1" dirty="0"/>
          </a:p>
        </p:txBody>
      </p:sp>
      <p:sp>
        <p:nvSpPr>
          <p:cNvPr id="41" name="TextBox 40"/>
          <p:cNvSpPr txBox="1"/>
          <p:nvPr/>
        </p:nvSpPr>
        <p:spPr>
          <a:xfrm>
            <a:off x="2258200" y="1417639"/>
            <a:ext cx="3402085" cy="523220"/>
          </a:xfrm>
          <a:prstGeom prst="rect">
            <a:avLst/>
          </a:prstGeom>
          <a:noFill/>
        </p:spPr>
        <p:txBody>
          <a:bodyPr wrap="none" rtlCol="0">
            <a:spAutoFit/>
          </a:bodyPr>
          <a:lstStyle/>
          <a:p>
            <a:r>
              <a:rPr lang="en-US" sz="1400" b="1" dirty="0"/>
              <a:t>6</a:t>
            </a:r>
            <a:r>
              <a:rPr lang="en-US" sz="1400" b="1" dirty="0" smtClean="0"/>
              <a:t>. Update bundle or </a:t>
            </a:r>
            <a:br>
              <a:rPr lang="en-US" sz="1400" b="1" dirty="0" smtClean="0"/>
            </a:br>
            <a:r>
              <a:rPr lang="en-US" sz="1400" b="1" dirty="0" smtClean="0"/>
              <a:t>    upload the </a:t>
            </a:r>
            <a:r>
              <a:rPr lang="en-US" sz="1400" b="1" dirty="0" err="1" smtClean="0"/>
              <a:t>msi</a:t>
            </a:r>
            <a:r>
              <a:rPr lang="en-US" sz="1400" b="1" dirty="0" smtClean="0"/>
              <a:t> for final publishing  </a:t>
            </a:r>
            <a:endParaRPr lang="en-US" sz="1400" b="1" dirty="0"/>
          </a:p>
        </p:txBody>
      </p:sp>
      <p:pic>
        <p:nvPicPr>
          <p:cNvPr id="46" name="Picture 4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5253" y="945921"/>
            <a:ext cx="2971485" cy="1951738"/>
          </a:xfrm>
          <a:prstGeom prst="rect">
            <a:avLst/>
          </a:prstGeom>
          <a:ln>
            <a:solidFill>
              <a:schemeClr val="accent3"/>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267192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29"/>
                                        </p:tgtEl>
                                        <p:attrNameLst>
                                          <p:attrName>style.visibility</p:attrName>
                                        </p:attrNameLst>
                                      </p:cBhvr>
                                      <p:to>
                                        <p:strVal val="visible"/>
                                      </p:to>
                                    </p:set>
                                    <p:animEffect transition="in" filter="wheel(1)">
                                      <p:cBhvr>
                                        <p:cTn id="7" dur="2000"/>
                                        <p:tgtEl>
                                          <p:spTgt spid="10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5" y="3466649"/>
            <a:ext cx="4256384" cy="2703989"/>
          </a:xfrm>
          <a:prstGeom prst="rect">
            <a:avLst/>
          </a:prstGeom>
          <a:ln>
            <a:solidFill>
              <a:schemeClr val="accent3"/>
            </a:solidFill>
          </a:ln>
        </p:spPr>
      </p:pic>
      <p:sp>
        <p:nvSpPr>
          <p:cNvPr id="2" name="Title 1"/>
          <p:cNvSpPr>
            <a:spLocks noGrp="1"/>
          </p:cNvSpPr>
          <p:nvPr>
            <p:ph type="title"/>
          </p:nvPr>
        </p:nvSpPr>
        <p:spPr/>
        <p:txBody>
          <a:bodyPr/>
          <a:lstStyle/>
          <a:p>
            <a:r>
              <a:rPr lang="en-US" dirty="0" smtClean="0"/>
              <a:t>Preparing Publishing Information</a:t>
            </a:r>
            <a:br>
              <a:rPr lang="en-US" dirty="0" smtClean="0"/>
            </a:br>
            <a:r>
              <a:rPr lang="en-US" dirty="0" smtClean="0"/>
              <a:t>For Store Page and Help File </a:t>
            </a:r>
            <a:endParaRPr lang="en-US" dirty="0"/>
          </a:p>
        </p:txBody>
      </p:sp>
      <p:sp>
        <p:nvSpPr>
          <p:cNvPr id="7" name="Content Placeholder 6"/>
          <p:cNvSpPr>
            <a:spLocks noGrp="1"/>
          </p:cNvSpPr>
          <p:nvPr>
            <p:ph idx="17"/>
          </p:nvPr>
        </p:nvSpPr>
        <p:spPr>
          <a:xfrm>
            <a:off x="5999621" y="1392470"/>
            <a:ext cx="4040187" cy="4767282"/>
          </a:xfrm>
        </p:spPr>
        <p:txBody>
          <a:bodyPr/>
          <a:lstStyle/>
          <a:p>
            <a:r>
              <a:rPr lang="en-US" sz="1400" dirty="0" smtClean="0"/>
              <a:t>App Description </a:t>
            </a:r>
          </a:p>
          <a:p>
            <a:r>
              <a:rPr lang="en-US" sz="1400" dirty="0" smtClean="0"/>
              <a:t>Company URL </a:t>
            </a:r>
          </a:p>
          <a:p>
            <a:r>
              <a:rPr lang="en-US" sz="1400" dirty="0" smtClean="0"/>
              <a:t>Support Email </a:t>
            </a:r>
          </a:p>
          <a:p>
            <a:r>
              <a:rPr lang="en-US" sz="1400" dirty="0" smtClean="0"/>
              <a:t>Publisher Contact Information</a:t>
            </a:r>
          </a:p>
          <a:p>
            <a:r>
              <a:rPr lang="en-US" sz="1400" dirty="0" smtClean="0"/>
              <a:t>Price</a:t>
            </a:r>
          </a:p>
          <a:p>
            <a:r>
              <a:rPr lang="en-US" sz="1400" dirty="0" smtClean="0"/>
              <a:t>PayPal Email for Payments </a:t>
            </a:r>
          </a:p>
          <a:p>
            <a:r>
              <a:rPr lang="en-US" sz="1400" dirty="0" smtClean="0"/>
              <a:t>App File </a:t>
            </a:r>
          </a:p>
          <a:p>
            <a:r>
              <a:rPr lang="en-US" sz="1400" dirty="0" smtClean="0"/>
              <a:t>Compatibility</a:t>
            </a:r>
          </a:p>
          <a:p>
            <a:r>
              <a:rPr lang="en-US" sz="1400" dirty="0" smtClean="0"/>
              <a:t>Categories</a:t>
            </a:r>
            <a:endParaRPr lang="en-US" sz="1400" dirty="0"/>
          </a:p>
        </p:txBody>
      </p:sp>
      <p:sp>
        <p:nvSpPr>
          <p:cNvPr id="9" name="Content Placeholder 8"/>
          <p:cNvSpPr>
            <a:spLocks noGrp="1"/>
          </p:cNvSpPr>
          <p:nvPr>
            <p:ph idx="18"/>
          </p:nvPr>
        </p:nvSpPr>
        <p:spPr>
          <a:xfrm>
            <a:off x="489860" y="1428525"/>
            <a:ext cx="4040187" cy="4767281"/>
          </a:xfrm>
        </p:spPr>
        <p:txBody>
          <a:bodyPr/>
          <a:lstStyle/>
          <a:p>
            <a:r>
              <a:rPr lang="en-US" sz="1400" dirty="0" smtClean="0"/>
              <a:t>App </a:t>
            </a:r>
            <a:r>
              <a:rPr lang="en-US" sz="1400" dirty="0"/>
              <a:t>Name </a:t>
            </a:r>
          </a:p>
          <a:p>
            <a:r>
              <a:rPr lang="en-US" sz="1400" dirty="0"/>
              <a:t>App Short Description </a:t>
            </a:r>
          </a:p>
          <a:p>
            <a:r>
              <a:rPr lang="en-US" sz="1400" dirty="0"/>
              <a:t>Version Info</a:t>
            </a:r>
          </a:p>
          <a:p>
            <a:r>
              <a:rPr lang="en-US" sz="1400" dirty="0"/>
              <a:t>Company Name </a:t>
            </a:r>
          </a:p>
          <a:p>
            <a:r>
              <a:rPr lang="en-US" sz="1400" dirty="0"/>
              <a:t>App Logo </a:t>
            </a:r>
          </a:p>
          <a:p>
            <a:r>
              <a:rPr lang="en-US" sz="1400" dirty="0"/>
              <a:t>App Screen Shots </a:t>
            </a:r>
          </a:p>
          <a:p>
            <a:r>
              <a:rPr lang="en-US" sz="1400" dirty="0"/>
              <a:t>Documentation </a:t>
            </a:r>
            <a:r>
              <a:rPr lang="en-US" sz="1400" dirty="0" smtClean="0"/>
              <a:t>section</a:t>
            </a:r>
            <a:endParaRPr lang="en-US" sz="1400" dirty="0"/>
          </a:p>
          <a:p>
            <a:r>
              <a:rPr lang="en-US" sz="1400" dirty="0"/>
              <a:t>General Usage Instructions </a:t>
            </a:r>
          </a:p>
        </p:txBody>
      </p:sp>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98795" y="3318859"/>
            <a:ext cx="4288006" cy="3212714"/>
          </a:xfrm>
          <a:prstGeom prst="rect">
            <a:avLst/>
          </a:prstGeom>
          <a:ln>
            <a:solidFill>
              <a:schemeClr val="accent3"/>
            </a:solidFill>
          </a:ln>
        </p:spPr>
      </p:pic>
      <p:sp>
        <p:nvSpPr>
          <p:cNvPr id="13" name="Content Placeholder 8"/>
          <p:cNvSpPr txBox="1">
            <a:spLocks/>
          </p:cNvSpPr>
          <p:nvPr/>
        </p:nvSpPr>
        <p:spPr>
          <a:xfrm>
            <a:off x="3135090" y="1420136"/>
            <a:ext cx="4040187" cy="4767281"/>
          </a:xfrm>
          <a:prstGeom prst="rect">
            <a:avLst/>
          </a:prstGeom>
        </p:spPr>
        <p:txBody>
          <a:bodyPr lIns="0" tIns="0" rIns="0" bIns="0">
            <a:noAutofit/>
          </a:bodyPr>
          <a:lstStyle>
            <a:lvl1pPr marL="383971" indent="-316771" algn="l" defTabSz="511960" rtl="0" eaLnBrk="1" latinLnBrk="0" hangingPunct="1">
              <a:spcBef>
                <a:spcPts val="0"/>
              </a:spcBef>
              <a:buClr>
                <a:schemeClr val="accent4"/>
              </a:buClr>
              <a:buSzPct val="100000"/>
              <a:buFont typeface="Wingdings" charset="2"/>
              <a:buChar char="§"/>
              <a:defRPr sz="2800" b="0" i="0" kern="1200" baseline="0">
                <a:solidFill>
                  <a:schemeClr val="tx1"/>
                </a:solidFill>
                <a:latin typeface="Frutiger Next LT W1G"/>
                <a:ea typeface="+mn-ea"/>
                <a:cs typeface="Frutiger Next LT W1G"/>
              </a:defRPr>
            </a:lvl1pPr>
            <a:lvl2pPr marL="831936" indent="-287974" algn="l" defTabSz="511960" rtl="0" eaLnBrk="1" latinLnBrk="0" hangingPunct="1">
              <a:spcBef>
                <a:spcPct val="20000"/>
              </a:spcBef>
              <a:buClr>
                <a:schemeClr val="accent4"/>
              </a:buClr>
              <a:buSzPct val="100000"/>
              <a:buFont typeface="Wingdings" charset="2"/>
              <a:buChar char="§"/>
              <a:defRPr sz="2300" b="0" i="0" kern="1200">
                <a:solidFill>
                  <a:schemeClr val="tx1"/>
                </a:solidFill>
                <a:latin typeface="Frutiger Next LT W1G"/>
                <a:ea typeface="+mn-ea"/>
                <a:cs typeface="Frutiger Next LT W1G"/>
              </a:defRPr>
            </a:lvl2pPr>
            <a:lvl3pPr marL="1279901" indent="-259176" algn="l" defTabSz="511960" rtl="0" eaLnBrk="1" latinLnBrk="0" hangingPunct="1">
              <a:spcBef>
                <a:spcPct val="20000"/>
              </a:spcBef>
              <a:buClr>
                <a:schemeClr val="accent4"/>
              </a:buClr>
              <a:buSzPct val="100000"/>
              <a:buFont typeface="Wingdings" charset="2"/>
              <a:buChar char="§"/>
              <a:defRPr sz="2000" b="0" i="0" kern="1200">
                <a:solidFill>
                  <a:schemeClr val="tx1"/>
                </a:solidFill>
                <a:latin typeface="Frutiger Next LT W1G"/>
                <a:ea typeface="+mn-ea"/>
                <a:cs typeface="Frutiger Next LT W1G"/>
              </a:defRPr>
            </a:lvl3pPr>
            <a:lvl4pPr marL="1791862" indent="-230379" algn="l" defTabSz="511960" rtl="0" eaLnBrk="1" latinLnBrk="0" hangingPunct="1">
              <a:spcBef>
                <a:spcPct val="20000"/>
              </a:spcBef>
              <a:buClr>
                <a:schemeClr val="accent4"/>
              </a:buClr>
              <a:buSzPct val="100000"/>
              <a:buFont typeface="Wingdings" charset="2"/>
              <a:buChar char="§"/>
              <a:defRPr sz="1700" b="0" i="0" kern="1200">
                <a:solidFill>
                  <a:schemeClr val="tx1"/>
                </a:solidFill>
                <a:latin typeface="Frutiger Next LT W1G"/>
                <a:ea typeface="+mn-ea"/>
                <a:cs typeface="Frutiger Next LT W1G"/>
              </a:defRPr>
            </a:lvl4pPr>
            <a:lvl5pPr marL="2303821" indent="-201582" algn="l" defTabSz="511960" rtl="0" eaLnBrk="1" latinLnBrk="0" hangingPunct="1">
              <a:spcBef>
                <a:spcPct val="20000"/>
              </a:spcBef>
              <a:buClr>
                <a:schemeClr val="accent4"/>
              </a:buClr>
              <a:buSzPct val="100000"/>
              <a:buFont typeface="Wingdings" charset="2"/>
              <a:buChar char="§"/>
              <a:defRPr sz="1500" b="0" i="0" kern="1200">
                <a:solidFill>
                  <a:schemeClr val="tx1"/>
                </a:solidFill>
                <a:latin typeface="Frutiger Next LT W1G"/>
                <a:ea typeface="+mn-ea"/>
                <a:cs typeface="Frutiger Next LT W1G"/>
              </a:defRPr>
            </a:lvl5pPr>
            <a:lvl6pPr marL="2815782" indent="-255981" algn="l" defTabSz="511960" rtl="0" eaLnBrk="1" latinLnBrk="0" hangingPunct="1">
              <a:spcBef>
                <a:spcPct val="20000"/>
              </a:spcBef>
              <a:buFont typeface="Arial"/>
              <a:buChar char="•"/>
              <a:defRPr sz="2300" kern="1200">
                <a:solidFill>
                  <a:schemeClr val="tx1"/>
                </a:solidFill>
                <a:latin typeface="+mn-lt"/>
                <a:ea typeface="+mn-ea"/>
                <a:cs typeface="+mn-cs"/>
              </a:defRPr>
            </a:lvl6pPr>
            <a:lvl7pPr marL="3327742" indent="-255981" algn="l" defTabSz="511960" rtl="0" eaLnBrk="1" latinLnBrk="0" hangingPunct="1">
              <a:spcBef>
                <a:spcPct val="20000"/>
              </a:spcBef>
              <a:buFont typeface="Arial"/>
              <a:buChar char="•"/>
              <a:defRPr sz="2300" kern="1200">
                <a:solidFill>
                  <a:schemeClr val="tx1"/>
                </a:solidFill>
                <a:latin typeface="+mn-lt"/>
                <a:ea typeface="+mn-ea"/>
                <a:cs typeface="+mn-cs"/>
              </a:defRPr>
            </a:lvl7pPr>
            <a:lvl8pPr marL="3839702" indent="-255981" algn="l" defTabSz="511960" rtl="0" eaLnBrk="1" latinLnBrk="0" hangingPunct="1">
              <a:spcBef>
                <a:spcPct val="20000"/>
              </a:spcBef>
              <a:buFont typeface="Arial"/>
              <a:buChar char="•"/>
              <a:defRPr sz="2300" kern="1200">
                <a:solidFill>
                  <a:schemeClr val="tx1"/>
                </a:solidFill>
                <a:latin typeface="+mn-lt"/>
                <a:ea typeface="+mn-ea"/>
                <a:cs typeface="+mn-cs"/>
              </a:defRPr>
            </a:lvl8pPr>
            <a:lvl9pPr marL="4351662" indent="-255981" algn="l" defTabSz="511960" rtl="0" eaLnBrk="1" latinLnBrk="0" hangingPunct="1">
              <a:spcBef>
                <a:spcPct val="20000"/>
              </a:spcBef>
              <a:buFont typeface="Arial"/>
              <a:buChar char="•"/>
              <a:defRPr sz="2300" kern="1200">
                <a:solidFill>
                  <a:schemeClr val="tx1"/>
                </a:solidFill>
                <a:latin typeface="+mn-lt"/>
                <a:ea typeface="+mn-ea"/>
                <a:cs typeface="+mn-cs"/>
              </a:defRPr>
            </a:lvl9pPr>
          </a:lstStyle>
          <a:p>
            <a:r>
              <a:rPr lang="en-US" sz="1400" dirty="0" smtClean="0"/>
              <a:t>Installation/Uninstallation </a:t>
            </a:r>
          </a:p>
          <a:p>
            <a:r>
              <a:rPr lang="en-US" sz="1400" dirty="0" smtClean="0"/>
              <a:t>Additional Information </a:t>
            </a:r>
          </a:p>
          <a:p>
            <a:r>
              <a:rPr lang="en-US" sz="1400" dirty="0" smtClean="0"/>
              <a:t>Known Issues </a:t>
            </a:r>
          </a:p>
          <a:p>
            <a:r>
              <a:rPr lang="en-US" sz="1400" dirty="0" smtClean="0"/>
              <a:t>Author/Company </a:t>
            </a:r>
            <a:br>
              <a:rPr lang="en-US" sz="1400" dirty="0" smtClean="0"/>
            </a:br>
            <a:r>
              <a:rPr lang="en-US" sz="1400" dirty="0" smtClean="0"/>
              <a:t>Information </a:t>
            </a:r>
          </a:p>
          <a:p>
            <a:r>
              <a:rPr lang="en-US" sz="1400" dirty="0" smtClean="0"/>
              <a:t>Commands</a:t>
            </a:r>
          </a:p>
          <a:p>
            <a:r>
              <a:rPr lang="en-US" sz="1400" dirty="0" smtClean="0"/>
              <a:t>Ribbon/Toolbar Icons </a:t>
            </a:r>
            <a:endParaRPr lang="en-US" sz="1400" dirty="0"/>
          </a:p>
        </p:txBody>
      </p:sp>
      <p:sp>
        <p:nvSpPr>
          <p:cNvPr id="12" name="TextBox 11"/>
          <p:cNvSpPr txBox="1"/>
          <p:nvPr/>
        </p:nvSpPr>
        <p:spPr>
          <a:xfrm>
            <a:off x="1186547" y="6008353"/>
            <a:ext cx="2732309" cy="523220"/>
          </a:xfrm>
          <a:prstGeom prst="rect">
            <a:avLst/>
          </a:prstGeom>
          <a:solidFill>
            <a:schemeClr val="bg2"/>
          </a:solidFill>
          <a:ln>
            <a:solidFill>
              <a:schemeClr val="accent3"/>
            </a:solidFill>
          </a:ln>
        </p:spPr>
        <p:txBody>
          <a:bodyPr wrap="square" rtlCol="0">
            <a:spAutoFit/>
          </a:bodyPr>
          <a:lstStyle/>
          <a:p>
            <a:r>
              <a:rPr lang="en-US" sz="1400" dirty="0" smtClean="0"/>
              <a:t>Standard html help template generated from submission info.</a:t>
            </a:r>
            <a:endParaRPr lang="en-US" sz="1400" dirty="0"/>
          </a:p>
        </p:txBody>
      </p:sp>
      <p:sp>
        <p:nvSpPr>
          <p:cNvPr id="15" name="TextBox 14"/>
          <p:cNvSpPr txBox="1"/>
          <p:nvPr/>
        </p:nvSpPr>
        <p:spPr>
          <a:xfrm>
            <a:off x="6695199" y="5676917"/>
            <a:ext cx="2231088" cy="523220"/>
          </a:xfrm>
          <a:prstGeom prst="rect">
            <a:avLst/>
          </a:prstGeom>
          <a:noFill/>
          <a:ln>
            <a:solidFill>
              <a:schemeClr val="accent3"/>
            </a:solidFill>
          </a:ln>
        </p:spPr>
        <p:txBody>
          <a:bodyPr wrap="square" rtlCol="0">
            <a:spAutoFit/>
          </a:bodyPr>
          <a:lstStyle/>
          <a:p>
            <a:r>
              <a:rPr lang="en-US" sz="1400" dirty="0" smtClean="0"/>
              <a:t>A store page includes an app logo, screen shots </a:t>
            </a:r>
            <a:endParaRPr lang="en-US" sz="1400" dirty="0"/>
          </a:p>
        </p:txBody>
      </p:sp>
      <p:sp>
        <p:nvSpPr>
          <p:cNvPr id="14" name="Rounded Rectangle 13"/>
          <p:cNvSpPr/>
          <p:nvPr/>
        </p:nvSpPr>
        <p:spPr>
          <a:xfrm>
            <a:off x="793213" y="2280492"/>
            <a:ext cx="1649361" cy="451691"/>
          </a:xfrm>
          <a:prstGeom prst="round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Rounded Rectangle 15"/>
          <p:cNvSpPr/>
          <p:nvPr/>
        </p:nvSpPr>
        <p:spPr>
          <a:xfrm>
            <a:off x="6312665" y="2236423"/>
            <a:ext cx="2374136" cy="407625"/>
          </a:xfrm>
          <a:prstGeom prst="roundRect">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Rounded Rectangle 16"/>
          <p:cNvSpPr/>
          <p:nvPr/>
        </p:nvSpPr>
        <p:spPr>
          <a:xfrm>
            <a:off x="6312665" y="1773716"/>
            <a:ext cx="2505658" cy="462707"/>
          </a:xfrm>
          <a:prstGeom prst="roundRect">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7451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Publishing Information</a:t>
            </a:r>
            <a:endParaRPr lang="en-US" dirty="0"/>
          </a:p>
        </p:txBody>
      </p:sp>
      <p:sp>
        <p:nvSpPr>
          <p:cNvPr id="3" name="Content Placeholder 2"/>
          <p:cNvSpPr>
            <a:spLocks noGrp="1"/>
          </p:cNvSpPr>
          <p:nvPr>
            <p:ph idx="1"/>
          </p:nvPr>
        </p:nvSpPr>
        <p:spPr/>
        <p:txBody>
          <a:bodyPr/>
          <a:lstStyle/>
          <a:p>
            <a:r>
              <a:rPr lang="en-US" sz="2400" dirty="0" smtClean="0"/>
              <a:t>Autodesk Exchange Apps page </a:t>
            </a:r>
            <a:r>
              <a:rPr lang="en-US" sz="2400" dirty="0" smtClean="0">
                <a:hlinkClick r:id="rId3"/>
              </a:rPr>
              <a:t/>
            </a:r>
            <a:br>
              <a:rPr lang="en-US" sz="2400" dirty="0" smtClean="0">
                <a:hlinkClick r:id="rId3"/>
              </a:rPr>
            </a:br>
            <a:r>
              <a:rPr lang="en-US" sz="2000" dirty="0" smtClean="0">
                <a:hlinkClick r:id="rId3"/>
              </a:rPr>
              <a:t>http</a:t>
            </a:r>
            <a:r>
              <a:rPr lang="en-US" sz="2000" dirty="0">
                <a:hlinkClick r:id="rId3"/>
              </a:rPr>
              <a:t>://</a:t>
            </a:r>
            <a:r>
              <a:rPr lang="en-US" sz="2000" dirty="0" smtClean="0">
                <a:hlinkClick r:id="rId3"/>
              </a:rPr>
              <a:t>www.autodesk.com/developapps</a:t>
            </a:r>
            <a:r>
              <a:rPr lang="en-US" sz="2000" dirty="0" smtClean="0"/>
              <a:t/>
            </a:r>
            <a:br>
              <a:rPr lang="en-US" sz="2000" dirty="0" smtClean="0"/>
            </a:br>
            <a:endParaRPr lang="en-US" sz="2000" dirty="0" smtClean="0"/>
          </a:p>
          <a:p>
            <a:pPr marL="0" indent="0">
              <a:buNone/>
            </a:pPr>
            <a:r>
              <a:rPr lang="en-US" sz="2000" dirty="0"/>
              <a:t>	</a:t>
            </a:r>
            <a:r>
              <a:rPr lang="en-US" sz="2000" dirty="0" smtClean="0"/>
              <a:t>General Information for App Publishers</a:t>
            </a:r>
          </a:p>
          <a:p>
            <a:pPr lvl="1"/>
            <a:r>
              <a:rPr lang="en-US" sz="1800" dirty="0"/>
              <a:t>Icon guidelines</a:t>
            </a:r>
            <a:br>
              <a:rPr lang="en-US" sz="1800" dirty="0"/>
            </a:br>
            <a:r>
              <a:rPr lang="en-US" sz="1800" dirty="0" smtClean="0">
                <a:hlinkClick r:id="rId4"/>
              </a:rPr>
              <a:t>http</a:t>
            </a:r>
            <a:r>
              <a:rPr lang="en-US" sz="1800" dirty="0">
                <a:hlinkClick r:id="rId4"/>
              </a:rPr>
              <a:t>://</a:t>
            </a:r>
            <a:r>
              <a:rPr lang="en-US" sz="1800" dirty="0" smtClean="0">
                <a:hlinkClick r:id="rId4"/>
              </a:rPr>
              <a:t>images.autodesk.com/adsk/files/icons_publishers.zip</a:t>
            </a:r>
            <a:endParaRPr lang="en-US" sz="1800" dirty="0" smtClean="0"/>
          </a:p>
          <a:p>
            <a:pPr lvl="1"/>
            <a:r>
              <a:rPr lang="en-US" sz="1800" dirty="0" smtClean="0"/>
              <a:t>App Submission – </a:t>
            </a:r>
            <a:r>
              <a:rPr lang="en-US" sz="1800" dirty="0"/>
              <a:t>required information</a:t>
            </a:r>
            <a:br>
              <a:rPr lang="en-US" sz="1800" dirty="0"/>
            </a:br>
            <a:r>
              <a:rPr lang="en-US" sz="1600" dirty="0">
                <a:hlinkClick r:id="rId5"/>
              </a:rPr>
              <a:t>http://images.autodesk.com/adsk/files/app_submission__</a:t>
            </a:r>
            <a:r>
              <a:rPr lang="en-US" sz="1600" dirty="0" smtClean="0">
                <a:hlinkClick r:id="rId5"/>
              </a:rPr>
              <a:t>required_information1.doc</a:t>
            </a:r>
            <a:endParaRPr lang="en-US" sz="1600" dirty="0" smtClean="0"/>
          </a:p>
          <a:p>
            <a:pPr lvl="1"/>
            <a:r>
              <a:rPr lang="en-US" sz="1800" dirty="0"/>
              <a:t>PayPal Account </a:t>
            </a:r>
            <a:r>
              <a:rPr lang="en-US" sz="1800" dirty="0" smtClean="0"/>
              <a:t>Setup (for fee-based apps) </a:t>
            </a:r>
            <a:r>
              <a:rPr lang="en-US" sz="1800" dirty="0"/>
              <a:t/>
            </a:r>
            <a:br>
              <a:rPr lang="en-US" sz="1800" dirty="0"/>
            </a:br>
            <a:r>
              <a:rPr lang="en-US" sz="1800" dirty="0">
                <a:hlinkClick r:id="rId6"/>
              </a:rPr>
              <a:t>http://usa.autodesk.com/adsk/servlet/item?siteID=123112&amp;id=20143097</a:t>
            </a:r>
            <a:endParaRPr lang="en-US" sz="1800" dirty="0"/>
          </a:p>
          <a:p>
            <a:pPr lvl="1"/>
            <a:r>
              <a:rPr lang="en-US" sz="1800" dirty="0" smtClean="0"/>
              <a:t>Frequently Asked Questions (FAQ)</a:t>
            </a:r>
            <a:br>
              <a:rPr lang="en-US" sz="1800" dirty="0" smtClean="0"/>
            </a:br>
            <a:r>
              <a:rPr lang="en-US" sz="1800" dirty="0" smtClean="0">
                <a:hlinkClick r:id="rId7"/>
              </a:rPr>
              <a:t>http</a:t>
            </a:r>
            <a:r>
              <a:rPr lang="en-US" sz="1800" dirty="0">
                <a:hlinkClick r:id="rId7"/>
              </a:rPr>
              <a:t>://usa.autodesk.com/adsk/servlet/item?siteID=123112&amp;id=20149725</a:t>
            </a:r>
            <a:endParaRPr lang="en-US" sz="1800" dirty="0" smtClean="0"/>
          </a:p>
          <a:p>
            <a:pPr lvl="1"/>
            <a:r>
              <a:rPr lang="en-US" sz="1800" dirty="0" smtClean="0"/>
              <a:t>App Submission Process Overview</a:t>
            </a:r>
            <a:br>
              <a:rPr lang="en-US" sz="1800" dirty="0" smtClean="0"/>
            </a:br>
            <a:r>
              <a:rPr lang="en-US" sz="1800" dirty="0" smtClean="0">
                <a:hlinkClick r:id="rId8"/>
              </a:rPr>
              <a:t>http</a:t>
            </a:r>
            <a:r>
              <a:rPr lang="en-US" sz="1800" dirty="0">
                <a:hlinkClick r:id="rId8"/>
              </a:rPr>
              <a:t>://usa.autodesk.com/adsk/servlet/item?siteID=123112&amp;id=20149658</a:t>
            </a:r>
            <a:endParaRPr lang="en-US" sz="1800" dirty="0"/>
          </a:p>
          <a:p>
            <a:pPr marL="0" indent="0">
              <a:buNone/>
            </a:pPr>
            <a:endParaRPr lang="en-US" dirty="0"/>
          </a:p>
        </p:txBody>
      </p:sp>
    </p:spTree>
    <p:extLst>
      <p:ext uri="{BB962C8B-B14F-4D97-AF65-F5344CB8AC3E}">
        <p14:creationId xmlns:p14="http://schemas.microsoft.com/office/powerpoint/2010/main" val="1121042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Ready for App Submission</a:t>
            </a:r>
            <a:br>
              <a:rPr lang="en-US" dirty="0" smtClean="0"/>
            </a:br>
            <a:endParaRPr lang="en-US" dirty="0"/>
          </a:p>
        </p:txBody>
      </p:sp>
      <p:sp>
        <p:nvSpPr>
          <p:cNvPr id="24" name="Content Placeholder 1"/>
          <p:cNvSpPr>
            <a:spLocks noGrp="1"/>
          </p:cNvSpPr>
          <p:nvPr>
            <p:ph idx="1"/>
          </p:nvPr>
        </p:nvSpPr>
        <p:spPr>
          <a:xfrm>
            <a:off x="457200" y="1417641"/>
            <a:ext cx="8229644" cy="4767282"/>
          </a:xfrm>
        </p:spPr>
        <p:txBody>
          <a:bodyPr/>
          <a:lstStyle/>
          <a:p>
            <a:r>
              <a:rPr lang="en-US" dirty="0" smtClean="0"/>
              <a:t>Once you have a bundle and Publishing info. at hand, you are ready to submit your app </a:t>
            </a:r>
          </a:p>
          <a:p>
            <a:endParaRPr lang="en-US" dirty="0"/>
          </a:p>
          <a:p>
            <a:endParaRPr lang="en-US" dirty="0" smtClean="0"/>
          </a:p>
          <a:p>
            <a:endParaRPr lang="en-US" dirty="0"/>
          </a:p>
          <a:p>
            <a:endParaRPr lang="en-US" dirty="0" smtClean="0"/>
          </a:p>
          <a:p>
            <a:endParaRPr lang="en-US" dirty="0"/>
          </a:p>
          <a:p>
            <a:endParaRPr lang="en-US" dirty="0" smtClean="0"/>
          </a:p>
          <a:p>
            <a:endParaRPr lang="en-US" dirty="0"/>
          </a:p>
          <a:p>
            <a:endParaRPr lang="en-US" dirty="0" smtClean="0"/>
          </a:p>
          <a:p>
            <a:pPr marL="67200" indent="0">
              <a:buNone/>
            </a:pPr>
            <a:r>
              <a:rPr lang="en-US" dirty="0" smtClean="0"/>
              <a:t> 	Next: Submission Process </a:t>
            </a:r>
            <a:endParaRPr lang="en-US" dirty="0"/>
          </a:p>
        </p:txBody>
      </p:sp>
      <p:grpSp>
        <p:nvGrpSpPr>
          <p:cNvPr id="2" name="Group 1"/>
          <p:cNvGrpSpPr/>
          <p:nvPr/>
        </p:nvGrpSpPr>
        <p:grpSpPr>
          <a:xfrm>
            <a:off x="1875756" y="2326197"/>
            <a:ext cx="1330353" cy="3083570"/>
            <a:chOff x="1305805" y="2326197"/>
            <a:chExt cx="1330352" cy="3083570"/>
          </a:xfrm>
        </p:grpSpPr>
        <p:sp>
          <p:nvSpPr>
            <p:cNvPr id="12" name="Freeform 11"/>
            <p:cNvSpPr/>
            <p:nvPr/>
          </p:nvSpPr>
          <p:spPr>
            <a:xfrm>
              <a:off x="1340720" y="4156009"/>
              <a:ext cx="1253756" cy="1253758"/>
            </a:xfrm>
            <a:custGeom>
              <a:avLst/>
              <a:gdLst>
                <a:gd name="connsiteX0" fmla="*/ 0 w 1430178"/>
                <a:gd name="connsiteY0" fmla="*/ 238368 h 1430178"/>
                <a:gd name="connsiteX1" fmla="*/ 238368 w 1430178"/>
                <a:gd name="connsiteY1" fmla="*/ 0 h 1430178"/>
                <a:gd name="connsiteX2" fmla="*/ 1191810 w 1430178"/>
                <a:gd name="connsiteY2" fmla="*/ 0 h 1430178"/>
                <a:gd name="connsiteX3" fmla="*/ 1430178 w 1430178"/>
                <a:gd name="connsiteY3" fmla="*/ 238368 h 1430178"/>
                <a:gd name="connsiteX4" fmla="*/ 1430178 w 1430178"/>
                <a:gd name="connsiteY4" fmla="*/ 1191810 h 1430178"/>
                <a:gd name="connsiteX5" fmla="*/ 1191810 w 1430178"/>
                <a:gd name="connsiteY5" fmla="*/ 1430178 h 1430178"/>
                <a:gd name="connsiteX6" fmla="*/ 238368 w 1430178"/>
                <a:gd name="connsiteY6" fmla="*/ 1430178 h 1430178"/>
                <a:gd name="connsiteX7" fmla="*/ 0 w 1430178"/>
                <a:gd name="connsiteY7" fmla="*/ 1191810 h 1430178"/>
                <a:gd name="connsiteX8" fmla="*/ 0 w 1430178"/>
                <a:gd name="connsiteY8" fmla="*/ 238368 h 143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0178" h="1430178">
                  <a:moveTo>
                    <a:pt x="0" y="238368"/>
                  </a:moveTo>
                  <a:cubicBezTo>
                    <a:pt x="0" y="106721"/>
                    <a:pt x="106721" y="0"/>
                    <a:pt x="238368" y="0"/>
                  </a:cubicBezTo>
                  <a:lnTo>
                    <a:pt x="1191810" y="0"/>
                  </a:lnTo>
                  <a:cubicBezTo>
                    <a:pt x="1323457" y="0"/>
                    <a:pt x="1430178" y="106721"/>
                    <a:pt x="1430178" y="238368"/>
                  </a:cubicBezTo>
                  <a:lnTo>
                    <a:pt x="1430178" y="1191810"/>
                  </a:lnTo>
                  <a:cubicBezTo>
                    <a:pt x="1430178" y="1323457"/>
                    <a:pt x="1323457" y="1430178"/>
                    <a:pt x="1191810" y="1430178"/>
                  </a:cubicBezTo>
                  <a:lnTo>
                    <a:pt x="238368" y="1430178"/>
                  </a:lnTo>
                  <a:cubicBezTo>
                    <a:pt x="106721" y="1430178"/>
                    <a:pt x="0" y="1323457"/>
                    <a:pt x="0" y="1191810"/>
                  </a:cubicBezTo>
                  <a:lnTo>
                    <a:pt x="0" y="238368"/>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110456" tIns="110456" rIns="110456" bIns="110456" numCol="1" spcCol="1270" anchor="ctr" anchorCtr="0">
              <a:noAutofit/>
            </a:bodyPr>
            <a:lstStyle/>
            <a:p>
              <a:pPr lvl="0" algn="ctr" defTabSz="711200">
                <a:lnSpc>
                  <a:spcPct val="90000"/>
                </a:lnSpc>
                <a:spcBef>
                  <a:spcPct val="0"/>
                </a:spcBef>
                <a:spcAft>
                  <a:spcPct val="35000"/>
                </a:spcAft>
              </a:pPr>
              <a:r>
                <a:rPr lang="en-US" sz="1600" b="1" kern="1200" dirty="0" smtClean="0"/>
                <a:t>2. Publish-</a:t>
              </a:r>
              <a:r>
                <a:rPr lang="en-US" sz="1600" b="1" kern="1200" dirty="0" err="1" smtClean="0"/>
                <a:t>ing</a:t>
              </a:r>
              <a:r>
                <a:rPr lang="en-US" sz="1600" b="1" kern="1200" dirty="0" smtClean="0"/>
                <a:t> Info. </a:t>
              </a:r>
              <a:endParaRPr lang="en-US" sz="1400" b="1" kern="1200" dirty="0"/>
            </a:p>
          </p:txBody>
        </p:sp>
        <p:sp>
          <p:nvSpPr>
            <p:cNvPr id="14" name="Freeform 13"/>
            <p:cNvSpPr/>
            <p:nvPr/>
          </p:nvSpPr>
          <p:spPr>
            <a:xfrm>
              <a:off x="1305805" y="2326197"/>
              <a:ext cx="1288672" cy="1288674"/>
            </a:xfrm>
            <a:custGeom>
              <a:avLst/>
              <a:gdLst>
                <a:gd name="connsiteX0" fmla="*/ 0 w 1505104"/>
                <a:gd name="connsiteY0" fmla="*/ 250856 h 1505104"/>
                <a:gd name="connsiteX1" fmla="*/ 250856 w 1505104"/>
                <a:gd name="connsiteY1" fmla="*/ 0 h 1505104"/>
                <a:gd name="connsiteX2" fmla="*/ 1254248 w 1505104"/>
                <a:gd name="connsiteY2" fmla="*/ 0 h 1505104"/>
                <a:gd name="connsiteX3" fmla="*/ 1505104 w 1505104"/>
                <a:gd name="connsiteY3" fmla="*/ 250856 h 1505104"/>
                <a:gd name="connsiteX4" fmla="*/ 1505104 w 1505104"/>
                <a:gd name="connsiteY4" fmla="*/ 1254248 h 1505104"/>
                <a:gd name="connsiteX5" fmla="*/ 1254248 w 1505104"/>
                <a:gd name="connsiteY5" fmla="*/ 1505104 h 1505104"/>
                <a:gd name="connsiteX6" fmla="*/ 250856 w 1505104"/>
                <a:gd name="connsiteY6" fmla="*/ 1505104 h 1505104"/>
                <a:gd name="connsiteX7" fmla="*/ 0 w 1505104"/>
                <a:gd name="connsiteY7" fmla="*/ 1254248 h 1505104"/>
                <a:gd name="connsiteX8" fmla="*/ 0 w 1505104"/>
                <a:gd name="connsiteY8" fmla="*/ 250856 h 1505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05104" h="1505104">
                  <a:moveTo>
                    <a:pt x="0" y="250856"/>
                  </a:moveTo>
                  <a:cubicBezTo>
                    <a:pt x="0" y="112312"/>
                    <a:pt x="112312" y="0"/>
                    <a:pt x="250856" y="0"/>
                  </a:cubicBezTo>
                  <a:lnTo>
                    <a:pt x="1254248" y="0"/>
                  </a:lnTo>
                  <a:cubicBezTo>
                    <a:pt x="1392792" y="0"/>
                    <a:pt x="1505104" y="112312"/>
                    <a:pt x="1505104" y="250856"/>
                  </a:cubicBezTo>
                  <a:lnTo>
                    <a:pt x="1505104" y="1254248"/>
                  </a:lnTo>
                  <a:cubicBezTo>
                    <a:pt x="1505104" y="1392792"/>
                    <a:pt x="1392792" y="1505104"/>
                    <a:pt x="1254248" y="1505104"/>
                  </a:cubicBezTo>
                  <a:lnTo>
                    <a:pt x="250856" y="1505104"/>
                  </a:lnTo>
                  <a:cubicBezTo>
                    <a:pt x="112312" y="1505104"/>
                    <a:pt x="0" y="1392792"/>
                    <a:pt x="0" y="1254248"/>
                  </a:cubicBezTo>
                  <a:lnTo>
                    <a:pt x="0" y="250856"/>
                  </a:lnTo>
                  <a:close/>
                </a:path>
              </a:pathLst>
            </a:custGeom>
          </p:spPr>
          <p:style>
            <a:lnRef idx="2">
              <a:schemeClr val="lt1">
                <a:hueOff val="0"/>
                <a:satOff val="0"/>
                <a:lumOff val="0"/>
                <a:alphaOff val="0"/>
              </a:schemeClr>
            </a:lnRef>
            <a:fillRef idx="1">
              <a:schemeClr val="accent3">
                <a:hueOff val="503628"/>
                <a:satOff val="12197"/>
                <a:lumOff val="-1111"/>
                <a:alphaOff val="0"/>
              </a:schemeClr>
            </a:fillRef>
            <a:effectRef idx="0">
              <a:schemeClr val="accent3">
                <a:hueOff val="503628"/>
                <a:satOff val="12197"/>
                <a:lumOff val="-1111"/>
                <a:alphaOff val="0"/>
              </a:schemeClr>
            </a:effectRef>
            <a:fontRef idx="minor">
              <a:schemeClr val="lt1"/>
            </a:fontRef>
          </p:style>
          <p:txBody>
            <a:bodyPr spcFirstLastPara="0" vert="horz" wrap="square" lIns="114113" tIns="114113" rIns="114113" bIns="114113" numCol="1" spcCol="1270" anchor="ctr" anchorCtr="0">
              <a:noAutofit/>
            </a:bodyPr>
            <a:lstStyle/>
            <a:p>
              <a:pPr lvl="0" algn="ctr" defTabSz="711200">
                <a:lnSpc>
                  <a:spcPct val="90000"/>
                </a:lnSpc>
                <a:spcBef>
                  <a:spcPct val="0"/>
                </a:spcBef>
                <a:spcAft>
                  <a:spcPct val="35000"/>
                </a:spcAft>
              </a:pPr>
              <a:r>
                <a:rPr lang="en-US" sz="1600" b="1" kern="1200" dirty="0" smtClean="0"/>
                <a:t>1. App</a:t>
              </a:r>
              <a:endParaRPr lang="en-US" sz="1400" b="1" kern="1200" dirty="0"/>
            </a:p>
          </p:txBody>
        </p:sp>
        <p:sp>
          <p:nvSpPr>
            <p:cNvPr id="1025" name="TextBox 1024"/>
            <p:cNvSpPr txBox="1"/>
            <p:nvPr/>
          </p:nvSpPr>
          <p:spPr>
            <a:xfrm>
              <a:off x="1544247" y="3184661"/>
              <a:ext cx="846707" cy="461665"/>
            </a:xfrm>
            <a:prstGeom prst="rect">
              <a:avLst/>
            </a:prstGeom>
            <a:noFill/>
          </p:spPr>
          <p:txBody>
            <a:bodyPr wrap="none" rtlCol="0">
              <a:spAutoFit/>
            </a:bodyPr>
            <a:lstStyle/>
            <a:p>
              <a:pPr algn="ctr"/>
              <a:r>
                <a:rPr lang="en-US" sz="1200" dirty="0" smtClean="0"/>
                <a:t>.bundle </a:t>
              </a:r>
              <a:br>
                <a:rPr lang="en-US" sz="1200" dirty="0" smtClean="0"/>
              </a:br>
              <a:r>
                <a:rPr lang="en-US" sz="1200" dirty="0" smtClean="0"/>
                <a:t>Guidelines</a:t>
              </a:r>
              <a:endParaRPr lang="en-US" sz="1200" dirty="0"/>
            </a:p>
          </p:txBody>
        </p:sp>
        <p:sp>
          <p:nvSpPr>
            <p:cNvPr id="1027" name="TextBox 1026"/>
            <p:cNvSpPr txBox="1"/>
            <p:nvPr/>
          </p:nvSpPr>
          <p:spPr>
            <a:xfrm>
              <a:off x="1423967" y="4948102"/>
              <a:ext cx="1212190" cy="461665"/>
            </a:xfrm>
            <a:prstGeom prst="rect">
              <a:avLst/>
            </a:prstGeom>
            <a:noFill/>
          </p:spPr>
          <p:txBody>
            <a:bodyPr wrap="none" rtlCol="0">
              <a:spAutoFit/>
            </a:bodyPr>
            <a:lstStyle/>
            <a:p>
              <a:r>
                <a:rPr lang="en-US" sz="1200" dirty="0" smtClean="0"/>
                <a:t>Icons, help files,</a:t>
              </a:r>
            </a:p>
            <a:p>
              <a:r>
                <a:rPr lang="en-US" sz="1200" dirty="0" smtClean="0"/>
                <a:t> contact, etc.</a:t>
              </a:r>
              <a:endParaRPr lang="en-US" sz="1200" dirty="0"/>
            </a:p>
          </p:txBody>
        </p:sp>
        <p:sp>
          <p:nvSpPr>
            <p:cNvPr id="26" name="Cross 25"/>
            <p:cNvSpPr/>
            <p:nvPr/>
          </p:nvSpPr>
          <p:spPr>
            <a:xfrm>
              <a:off x="1777174" y="3706241"/>
              <a:ext cx="380851" cy="380851"/>
            </a:xfrm>
            <a:prstGeom prst="plus">
              <a:avLst>
                <a:gd name="adj" fmla="val 39444"/>
              </a:avLst>
            </a:prstGeom>
            <a:solidFill>
              <a:schemeClr val="accent3">
                <a:lumMod val="40000"/>
                <a:lumOff val="60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60965" y="3401366"/>
            <a:ext cx="2641599" cy="990600"/>
          </a:xfrm>
          <a:prstGeom prst="rect">
            <a:avLst/>
          </a:prstGeom>
          <a:ln>
            <a:solidFill>
              <a:schemeClr val="accent3"/>
            </a:solidFill>
          </a:ln>
          <a:effectLst>
            <a:outerShdw blurRad="50800" dist="38100" dir="2700000" algn="tl" rotWithShape="0">
              <a:prstClr val="black">
                <a:alpha val="40000"/>
              </a:prstClr>
            </a:outerShdw>
          </a:effectLst>
          <a:scene3d>
            <a:camera prst="perspectiveHeroicExtremeLeftFacing"/>
            <a:lightRig rig="threePt" dir="t"/>
          </a:scene3d>
        </p:spPr>
      </p:pic>
    </p:spTree>
    <p:extLst>
      <p:ext uri="{BB962C8B-B14F-4D97-AF65-F5344CB8AC3E}">
        <p14:creationId xmlns:p14="http://schemas.microsoft.com/office/powerpoint/2010/main" val="20550718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086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Autodesk Theme">
  <a:themeElements>
    <a:clrScheme name="Autodesk colors">
      <a:dk1>
        <a:srgbClr val="000000"/>
      </a:dk1>
      <a:lt1>
        <a:srgbClr val="FFFFFF"/>
      </a:lt1>
      <a:dk2>
        <a:srgbClr val="000000"/>
      </a:dk2>
      <a:lt2>
        <a:srgbClr val="FFFFFF"/>
      </a:lt2>
      <a:accent1>
        <a:srgbClr val="FFCC00"/>
      </a:accent1>
      <a:accent2>
        <a:srgbClr val="87BC40"/>
      </a:accent2>
      <a:accent3>
        <a:srgbClr val="32BCAD"/>
      </a:accent3>
      <a:accent4>
        <a:srgbClr val="0696D7"/>
      </a:accent4>
      <a:accent5>
        <a:srgbClr val="007272"/>
      </a:accent5>
      <a:accent6>
        <a:srgbClr val="1858A8"/>
      </a:accent6>
      <a:hlink>
        <a:srgbClr val="007272"/>
      </a:hlink>
      <a:folHlink>
        <a:srgbClr val="007272"/>
      </a:folHlink>
    </a:clrScheme>
    <a:fontScheme name="Custom 1">
      <a:majorFont>
        <a:latin typeface="Frutiger Next LT W1G"/>
        <a:ea typeface=""/>
        <a:cs typeface=""/>
      </a:majorFont>
      <a:minorFont>
        <a:latin typeface="Frutiger Next LT W1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B67D18A920FC34E89379B9056E5C96B" ma:contentTypeVersion="14" ma:contentTypeDescription="Create a new document." ma:contentTypeScope="" ma:versionID="be707e33ddd7bcc8bacbc23335b141d0">
  <xsd:schema xmlns:xsd="http://www.w3.org/2001/XMLSchema" xmlns:xs="http://www.w3.org/2001/XMLSchema" xmlns:p="http://schemas.microsoft.com/office/2006/metadata/properties" xmlns:ns2="53f21e63-0826-477d-b1b7-3db21182227b" xmlns:ns3="c7e0f0b7-7208-4c92-93d6-598a3e945dff" targetNamespace="http://schemas.microsoft.com/office/2006/metadata/properties" ma:root="true" ma:fieldsID="b504e9fee24a4a4ff760916c7e032d52" ns2:_="" ns3:_="">
    <xsd:import namespace="53f21e63-0826-477d-b1b7-3db21182227b"/>
    <xsd:import namespace="c7e0f0b7-7208-4c92-93d6-598a3e945df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f21e63-0826-477d-b1b7-3db21182227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Location" ma:index="14" nillable="true" ma:displayName="Location" ma:indexed="true" ma:internalName="MediaServiceLocatio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f3486984-7067-43be-b043-3c90f94ef9b2"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e0f0b7-7208-4c92-93d6-598a3e945dff"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8ee30ba-fb0b-4ac6-930f-2974a256cfa8}" ma:internalName="TaxCatchAll" ma:showField="CatchAllData" ma:web="c7e0f0b7-7208-4c92-93d6-598a3e945df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3f21e63-0826-477d-b1b7-3db21182227b">
      <Terms xmlns="http://schemas.microsoft.com/office/infopath/2007/PartnerControls"/>
    </lcf76f155ced4ddcb4097134ff3c332f>
    <TaxCatchAll xmlns="c7e0f0b7-7208-4c92-93d6-598a3e945dff" xsi:nil="true"/>
  </documentManagement>
</p:properties>
</file>

<file path=customXml/itemProps1.xml><?xml version="1.0" encoding="utf-8"?>
<ds:datastoreItem xmlns:ds="http://schemas.openxmlformats.org/officeDocument/2006/customXml" ds:itemID="{52E2826A-315A-45F6-A807-6D1E5220354A}"/>
</file>

<file path=customXml/itemProps2.xml><?xml version="1.0" encoding="utf-8"?>
<ds:datastoreItem xmlns:ds="http://schemas.openxmlformats.org/officeDocument/2006/customXml" ds:itemID="{94CEE556-CC36-46A0-B3BD-60F5C8C31308}"/>
</file>

<file path=customXml/itemProps3.xml><?xml version="1.0" encoding="utf-8"?>
<ds:datastoreItem xmlns:ds="http://schemas.openxmlformats.org/officeDocument/2006/customXml" ds:itemID="{27C766A1-B836-4C59-BA5C-4A7FAA9D78E1}"/>
</file>

<file path=docProps/app.xml><?xml version="1.0" encoding="utf-8"?>
<Properties xmlns="http://schemas.openxmlformats.org/officeDocument/2006/extended-properties" xmlns:vt="http://schemas.openxmlformats.org/officeDocument/2006/docPropsVTypes">
  <Template>ADSK_COV_Q2FY14 4x3</Template>
  <TotalTime>10422</TotalTime>
  <Words>390</Words>
  <Application>Microsoft Office PowerPoint</Application>
  <PresentationFormat>Letter Paper (8.5x11 in)</PresentationFormat>
  <Paragraphs>81</Paragraphs>
  <Slides>6</Slides>
  <Notes>6</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Autodesk Theme</vt:lpstr>
      <vt:lpstr>PowerPoint Presentation</vt:lpstr>
      <vt:lpstr>Publishing Workflow Overview </vt:lpstr>
      <vt:lpstr>Preparing Publishing Information For Store Page and Help File </vt:lpstr>
      <vt:lpstr>Publishing Information</vt:lpstr>
      <vt:lpstr>Ready for App Submission </vt:lpstr>
      <vt:lpstr>PowerPoint Presentation</vt:lpstr>
    </vt:vector>
  </TitlesOfParts>
  <Company>Autodesk</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Pasquale Volpintesta</dc:creator>
  <cp:lastModifiedBy>Mikako Harada</cp:lastModifiedBy>
  <cp:revision>629</cp:revision>
  <cp:lastPrinted>2013-07-31T17:22:49Z</cp:lastPrinted>
  <dcterms:created xsi:type="dcterms:W3CDTF">2012-10-19T15:38:24Z</dcterms:created>
  <dcterms:modified xsi:type="dcterms:W3CDTF">2013-08-12T20:46:15Z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0x010100BB67D18A920FC34E89379B9056E5C96B</vt:lpwstr>
  </property>
</Properties>
</file>