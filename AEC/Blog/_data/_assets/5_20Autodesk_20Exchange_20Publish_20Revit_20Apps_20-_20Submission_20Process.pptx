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s/slide5.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slides/slide4.xml" ContentType="application/vnd.openxmlformats-officedocument.presentationml.slide+xml"/>
  <Override PartName="/ppt/slideMasters/slideMaster1.xml" ContentType="application/vnd.openxmlformats-officedocument.presentationml.slideMaster+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slideLayouts/slideLayout7.xml" ContentType="application/vnd.openxmlformats-officedocument.presentationml.slideLayout+xml"/>
  <Override PartName="/ppt/commentAuthors.xml" ContentType="application/vnd.openxmlformats-officedocument.presentationml.commentAuthors+xml"/>
  <Override PartName="/ppt/theme/theme1.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7" r:id="rId1"/>
  </p:sldMasterIdLst>
  <p:notesMasterIdLst>
    <p:notesMasterId r:id="rId7"/>
  </p:notesMasterIdLst>
  <p:handoutMasterIdLst>
    <p:handoutMasterId r:id="rId8"/>
  </p:handoutMasterIdLst>
  <p:sldIdLst>
    <p:sldId id="349" r:id="rId2"/>
    <p:sldId id="350" r:id="rId3"/>
    <p:sldId id="348" r:id="rId4"/>
    <p:sldId id="317" r:id="rId5"/>
    <p:sldId id="325" r:id="rId6"/>
  </p:sldIdLst>
  <p:sldSz cx="9144000" cy="6858000" type="letter"/>
  <p:notesSz cx="7010400" cy="9296400"/>
  <p:defaultTextStyle>
    <a:defPPr>
      <a:defRPr lang="en-US"/>
    </a:defPPr>
    <a:lvl1pPr marL="0" algn="l" defTabSz="571211" rtl="0" eaLnBrk="1" latinLnBrk="0" hangingPunct="1">
      <a:defRPr sz="2200" kern="1200">
        <a:solidFill>
          <a:schemeClr val="tx1"/>
        </a:solidFill>
        <a:latin typeface="+mn-lt"/>
        <a:ea typeface="+mn-ea"/>
        <a:cs typeface="+mn-cs"/>
      </a:defRPr>
    </a:lvl1pPr>
    <a:lvl2pPr marL="571211" algn="l" defTabSz="571211" rtl="0" eaLnBrk="1" latinLnBrk="0" hangingPunct="1">
      <a:defRPr sz="2200" kern="1200">
        <a:solidFill>
          <a:schemeClr val="tx1"/>
        </a:solidFill>
        <a:latin typeface="+mn-lt"/>
        <a:ea typeface="+mn-ea"/>
        <a:cs typeface="+mn-cs"/>
      </a:defRPr>
    </a:lvl2pPr>
    <a:lvl3pPr marL="1142422" algn="l" defTabSz="571211" rtl="0" eaLnBrk="1" latinLnBrk="0" hangingPunct="1">
      <a:defRPr sz="2200" kern="1200">
        <a:solidFill>
          <a:schemeClr val="tx1"/>
        </a:solidFill>
        <a:latin typeface="+mn-lt"/>
        <a:ea typeface="+mn-ea"/>
        <a:cs typeface="+mn-cs"/>
      </a:defRPr>
    </a:lvl3pPr>
    <a:lvl4pPr marL="1713633" algn="l" defTabSz="571211" rtl="0" eaLnBrk="1" latinLnBrk="0" hangingPunct="1">
      <a:defRPr sz="2200" kern="1200">
        <a:solidFill>
          <a:schemeClr val="tx1"/>
        </a:solidFill>
        <a:latin typeface="+mn-lt"/>
        <a:ea typeface="+mn-ea"/>
        <a:cs typeface="+mn-cs"/>
      </a:defRPr>
    </a:lvl4pPr>
    <a:lvl5pPr marL="2284844" algn="l" defTabSz="571211" rtl="0" eaLnBrk="1" latinLnBrk="0" hangingPunct="1">
      <a:defRPr sz="2200" kern="1200">
        <a:solidFill>
          <a:schemeClr val="tx1"/>
        </a:solidFill>
        <a:latin typeface="+mn-lt"/>
        <a:ea typeface="+mn-ea"/>
        <a:cs typeface="+mn-cs"/>
      </a:defRPr>
    </a:lvl5pPr>
    <a:lvl6pPr marL="2856055" algn="l" defTabSz="571211" rtl="0" eaLnBrk="1" latinLnBrk="0" hangingPunct="1">
      <a:defRPr sz="2200" kern="1200">
        <a:solidFill>
          <a:schemeClr val="tx1"/>
        </a:solidFill>
        <a:latin typeface="+mn-lt"/>
        <a:ea typeface="+mn-ea"/>
        <a:cs typeface="+mn-cs"/>
      </a:defRPr>
    </a:lvl6pPr>
    <a:lvl7pPr marL="3427265" algn="l" defTabSz="571211" rtl="0" eaLnBrk="1" latinLnBrk="0" hangingPunct="1">
      <a:defRPr sz="2200" kern="1200">
        <a:solidFill>
          <a:schemeClr val="tx1"/>
        </a:solidFill>
        <a:latin typeface="+mn-lt"/>
        <a:ea typeface="+mn-ea"/>
        <a:cs typeface="+mn-cs"/>
      </a:defRPr>
    </a:lvl7pPr>
    <a:lvl8pPr marL="3998477" algn="l" defTabSz="571211" rtl="0" eaLnBrk="1" latinLnBrk="0" hangingPunct="1">
      <a:defRPr sz="2200" kern="1200">
        <a:solidFill>
          <a:schemeClr val="tx1"/>
        </a:solidFill>
        <a:latin typeface="+mn-lt"/>
        <a:ea typeface="+mn-ea"/>
        <a:cs typeface="+mn-cs"/>
      </a:defRPr>
    </a:lvl8pPr>
    <a:lvl9pPr marL="4569687" algn="l" defTabSz="571211" rtl="0" eaLnBrk="1" latinLnBrk="0" hangingPunct="1">
      <a:defRPr sz="22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kako Harada" initials="MH"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B7D88C"/>
    <a:srgbClr val="FFFFCC"/>
    <a:srgbClr val="000000"/>
    <a:srgbClr val="FFF5CC"/>
    <a:srgbClr val="FFFF00"/>
    <a:srgbClr val="FFCC00"/>
    <a:srgbClr val="005E30"/>
    <a:srgbClr val="1858A8"/>
    <a:srgbClr val="FFFFFF"/>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9770" autoAdjust="0"/>
    <p:restoredTop sz="66468" autoAdjust="0"/>
  </p:normalViewPr>
  <p:slideViewPr>
    <p:cSldViewPr snapToGrid="0" snapToObjects="1">
      <p:cViewPr varScale="1">
        <p:scale>
          <a:sx n="73" d="100"/>
          <a:sy n="73" d="100"/>
        </p:scale>
        <p:origin x="-2640" y="-90"/>
      </p:cViewPr>
      <p:guideLst>
        <p:guide orient="horz" pos="407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customXml" Target="../customXml/item2.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 Id="rId14" Type="http://schemas.openxmlformats.org/officeDocument/2006/relationships/customXml" Target="../customXml/item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387C2776-B9DD-1946-9831-785CA23AC1F1}" type="datetime1">
              <a:rPr lang="en-US" smtClean="0"/>
              <a:t>8/12/2013</a:t>
            </a:fld>
            <a:endParaRPr lang="en-US" dirty="0"/>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58ECB827-1CCB-B349-98A7-AAC485CBB65F}" type="slidenum">
              <a:rPr lang="en-US" smtClean="0"/>
              <a:t>‹#›</a:t>
            </a:fld>
            <a:endParaRPr lang="en-US" dirty="0"/>
          </a:p>
        </p:txBody>
      </p:sp>
    </p:spTree>
    <p:extLst>
      <p:ext uri="{BB962C8B-B14F-4D97-AF65-F5344CB8AC3E}">
        <p14:creationId xmlns:p14="http://schemas.microsoft.com/office/powerpoint/2010/main" val="34355217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13A1C7DD-7A43-8947-A922-8561F0BA9BCC}" type="datetime1">
              <a:rPr lang="en-US" smtClean="0"/>
              <a:t>8/12/2013</a:t>
            </a:fld>
            <a:endParaRPr lang="en-US" dirty="0"/>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3E9330B-B1DA-214B-A229-0CB8492B91A5}" type="slidenum">
              <a:rPr lang="en-US" smtClean="0"/>
              <a:t>‹#›</a:t>
            </a:fld>
            <a:endParaRPr lang="en-US" dirty="0"/>
          </a:p>
        </p:txBody>
      </p:sp>
    </p:spTree>
    <p:extLst>
      <p:ext uri="{BB962C8B-B14F-4D97-AF65-F5344CB8AC3E}">
        <p14:creationId xmlns:p14="http://schemas.microsoft.com/office/powerpoint/2010/main" val="726771065"/>
      </p:ext>
    </p:extLst>
  </p:cSld>
  <p:clrMap bg1="lt1" tx1="dk1" bg2="lt2" tx2="dk2" accent1="accent1" accent2="accent2" accent3="accent3" accent4="accent4" accent5="accent5" accent6="accent6" hlink="hlink" folHlink="folHlink"/>
  <p:hf hdr="0" ftr="0" dt="0"/>
  <p:notesStyle>
    <a:lvl1pPr marL="0" algn="l" defTabSz="571211" rtl="0" eaLnBrk="1" latinLnBrk="0" hangingPunct="1">
      <a:defRPr sz="1500" kern="1200">
        <a:solidFill>
          <a:schemeClr val="tx1"/>
        </a:solidFill>
        <a:latin typeface="+mn-lt"/>
        <a:ea typeface="+mn-ea"/>
        <a:cs typeface="+mn-cs"/>
      </a:defRPr>
    </a:lvl1pPr>
    <a:lvl2pPr marL="571211" algn="l" defTabSz="571211" rtl="0" eaLnBrk="1" latinLnBrk="0" hangingPunct="1">
      <a:defRPr sz="1500" kern="1200">
        <a:solidFill>
          <a:schemeClr val="tx1"/>
        </a:solidFill>
        <a:latin typeface="+mn-lt"/>
        <a:ea typeface="+mn-ea"/>
        <a:cs typeface="+mn-cs"/>
      </a:defRPr>
    </a:lvl2pPr>
    <a:lvl3pPr marL="1142422" algn="l" defTabSz="571211" rtl="0" eaLnBrk="1" latinLnBrk="0" hangingPunct="1">
      <a:defRPr sz="1500" kern="1200">
        <a:solidFill>
          <a:schemeClr val="tx1"/>
        </a:solidFill>
        <a:latin typeface="+mn-lt"/>
        <a:ea typeface="+mn-ea"/>
        <a:cs typeface="+mn-cs"/>
      </a:defRPr>
    </a:lvl3pPr>
    <a:lvl4pPr marL="1713633" algn="l" defTabSz="571211" rtl="0" eaLnBrk="1" latinLnBrk="0" hangingPunct="1">
      <a:defRPr sz="1500" kern="1200">
        <a:solidFill>
          <a:schemeClr val="tx1"/>
        </a:solidFill>
        <a:latin typeface="+mn-lt"/>
        <a:ea typeface="+mn-ea"/>
        <a:cs typeface="+mn-cs"/>
      </a:defRPr>
    </a:lvl4pPr>
    <a:lvl5pPr marL="2284844" algn="l" defTabSz="571211" rtl="0" eaLnBrk="1" latinLnBrk="0" hangingPunct="1">
      <a:defRPr sz="1500" kern="1200">
        <a:solidFill>
          <a:schemeClr val="tx1"/>
        </a:solidFill>
        <a:latin typeface="+mn-lt"/>
        <a:ea typeface="+mn-ea"/>
        <a:cs typeface="+mn-cs"/>
      </a:defRPr>
    </a:lvl5pPr>
    <a:lvl6pPr marL="2856055" algn="l" defTabSz="571211" rtl="0" eaLnBrk="1" latinLnBrk="0" hangingPunct="1">
      <a:defRPr sz="1500" kern="1200">
        <a:solidFill>
          <a:schemeClr val="tx1"/>
        </a:solidFill>
        <a:latin typeface="+mn-lt"/>
        <a:ea typeface="+mn-ea"/>
        <a:cs typeface="+mn-cs"/>
      </a:defRPr>
    </a:lvl6pPr>
    <a:lvl7pPr marL="3427265" algn="l" defTabSz="571211" rtl="0" eaLnBrk="1" latinLnBrk="0" hangingPunct="1">
      <a:defRPr sz="1500" kern="1200">
        <a:solidFill>
          <a:schemeClr val="tx1"/>
        </a:solidFill>
        <a:latin typeface="+mn-lt"/>
        <a:ea typeface="+mn-ea"/>
        <a:cs typeface="+mn-cs"/>
      </a:defRPr>
    </a:lvl7pPr>
    <a:lvl8pPr marL="3998477" algn="l" defTabSz="571211" rtl="0" eaLnBrk="1" latinLnBrk="0" hangingPunct="1">
      <a:defRPr sz="1500" kern="1200">
        <a:solidFill>
          <a:schemeClr val="tx1"/>
        </a:solidFill>
        <a:latin typeface="+mn-lt"/>
        <a:ea typeface="+mn-ea"/>
        <a:cs typeface="+mn-cs"/>
      </a:defRPr>
    </a:lvl8pPr>
    <a:lvl9pPr marL="4569687" algn="l" defTabSz="571211"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 this section, we will go through the submission process.  </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a:t>
            </a:fld>
            <a:endParaRPr lang="en-US" dirty="0"/>
          </a:p>
        </p:txBody>
      </p:sp>
    </p:spTree>
    <p:extLst>
      <p:ext uri="{BB962C8B-B14F-4D97-AF65-F5344CB8AC3E}">
        <p14:creationId xmlns:p14="http://schemas.microsoft.com/office/powerpoint/2010/main" val="21560709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Looking</a:t>
            </a:r>
            <a:r>
              <a:rPr lang="en-US" baseline="0" dirty="0" smtClean="0"/>
              <a:t> at the big picture, it is the third step in the process of publishing your app.</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2</a:t>
            </a:fld>
            <a:endParaRPr lang="en-US" dirty="0"/>
          </a:p>
        </p:txBody>
      </p:sp>
    </p:spTree>
    <p:extLst>
      <p:ext uri="{BB962C8B-B14F-4D97-AF65-F5344CB8AC3E}">
        <p14:creationId xmlns:p14="http://schemas.microsoft.com/office/powerpoint/2010/main" val="14136155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You start the process</a:t>
            </a:r>
            <a:r>
              <a:rPr lang="en-US" baseline="0" dirty="0" smtClean="0"/>
              <a:t> of submission by navigating to the Revit store and clicking the exchange Apps Developers link. You can also find an overview of the submission process on the ADN Open page under Exchange Apps page. </a:t>
            </a:r>
            <a:endParaRPr lang="en-US"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3</a:t>
            </a:fld>
            <a:endParaRPr lang="en-US" dirty="0"/>
          </a:p>
        </p:txBody>
      </p:sp>
    </p:spTree>
    <p:extLst>
      <p:ext uri="{BB962C8B-B14F-4D97-AF65-F5344CB8AC3E}">
        <p14:creationId xmlns:p14="http://schemas.microsoft.com/office/powerpoint/2010/main" val="12853856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Now,</a:t>
            </a:r>
            <a:r>
              <a:rPr lang="en-US" baseline="0" dirty="0" smtClean="0"/>
              <a:t> I would like to demonstrate the process of submitting your app</a:t>
            </a:r>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baseline="0" dirty="0" smtClean="0"/>
              <a:t>For this purpose, I am going to use information about a Revit app.</a:t>
            </a:r>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baseline="0" dirty="0" smtClean="0"/>
              <a:t>Lets go ahead and click the link Exchange Apps Developers.</a:t>
            </a:r>
            <a:endParaRPr lang="en-US"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4</a:t>
            </a:fld>
            <a:endParaRPr lang="en-US" dirty="0"/>
          </a:p>
        </p:txBody>
      </p:sp>
    </p:spTree>
    <p:extLst>
      <p:ext uri="{BB962C8B-B14F-4D97-AF65-F5344CB8AC3E}">
        <p14:creationId xmlns:p14="http://schemas.microsoft.com/office/powerpoint/2010/main" val="24178908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end of the presentation. Thank you </a:t>
            </a:r>
            <a:r>
              <a:rPr lang="en-US" smtClean="0"/>
              <a:t>for</a:t>
            </a:r>
            <a:r>
              <a:rPr lang="en-US" baseline="0" smtClean="0"/>
              <a:t> watching </a:t>
            </a:r>
            <a:r>
              <a:rPr lang="en-US" baseline="0" dirty="0" smtClean="0"/>
              <a:t>it patiently.</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5</a:t>
            </a:fld>
            <a:endParaRPr lang="en-US" dirty="0"/>
          </a:p>
        </p:txBody>
      </p:sp>
    </p:spTree>
    <p:extLst>
      <p:ext uri="{BB962C8B-B14F-4D97-AF65-F5344CB8AC3E}">
        <p14:creationId xmlns:p14="http://schemas.microsoft.com/office/powerpoint/2010/main" val="6098420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bg>
      <p:bgPr>
        <a:solidFill>
          <a:schemeClr val="bg1"/>
        </a:solidFill>
        <a:effectLst/>
      </p:bgPr>
    </p:bg>
    <p:spTree>
      <p:nvGrpSpPr>
        <p:cNvPr id="1" name=""/>
        <p:cNvGrpSpPr/>
        <p:nvPr/>
      </p:nvGrpSpPr>
      <p:grpSpPr>
        <a:xfrm>
          <a:off x="0" y="0"/>
          <a:ext cx="0" cy="0"/>
          <a:chOff x="0" y="0"/>
          <a:chExt cx="0" cy="0"/>
        </a:xfrm>
      </p:grpSpPr>
      <p:pic>
        <p:nvPicPr>
          <p:cNvPr id="13" name="Picture 12" descr="Corporate_Image_2012-09_v2.tif"/>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718" y="0"/>
            <a:ext cx="9156719" cy="6858000"/>
          </a:xfrm>
          <a:prstGeom prst="rect">
            <a:avLst/>
          </a:prstGeom>
        </p:spPr>
      </p:pic>
      <p:sp>
        <p:nvSpPr>
          <p:cNvPr id="2" name="Rectangle 1"/>
          <p:cNvSpPr/>
          <p:nvPr/>
        </p:nvSpPr>
        <p:spPr>
          <a:xfrm>
            <a:off x="-12719" y="1820073"/>
            <a:ext cx="9156719" cy="3066252"/>
          </a:xfrm>
          <a:prstGeom prst="rect">
            <a:avLst/>
          </a:prstGeom>
          <a:gradFill>
            <a:gsLst>
              <a:gs pos="20000">
                <a:schemeClr val="bg1">
                  <a:alpha val="88000"/>
                </a:schemeClr>
              </a:gs>
              <a:gs pos="100000">
                <a:schemeClr val="bg1">
                  <a:alpha val="50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4" name="Text Placeholder 2"/>
          <p:cNvSpPr>
            <a:spLocks noGrp="1"/>
          </p:cNvSpPr>
          <p:nvPr>
            <p:ph type="body" sz="quarter" idx="10" hasCustomPrompt="1"/>
          </p:nvPr>
        </p:nvSpPr>
        <p:spPr>
          <a:xfrm>
            <a:off x="457202" y="2432343"/>
            <a:ext cx="5397358" cy="1205087"/>
          </a:xfrm>
          <a:prstGeom prst="rect">
            <a:avLst/>
          </a:prstGeom>
        </p:spPr>
        <p:txBody>
          <a:bodyPr lIns="0" tIns="0" rIns="0" bIns="0">
            <a:noAutofit/>
          </a:bodyPr>
          <a:lstStyle>
            <a:lvl1pPr marL="0" indent="0">
              <a:spcBef>
                <a:spcPts val="0"/>
              </a:spcBef>
              <a:buNone/>
              <a:defRPr sz="3000" b="1" baseline="0">
                <a:solidFill>
                  <a:schemeClr val="accent4"/>
                </a:solidFill>
              </a:defRPr>
            </a:lvl1pPr>
          </a:lstStyle>
          <a:p>
            <a:r>
              <a:rPr lang="en-US" sz="2800" dirty="0" smtClean="0"/>
              <a:t>Main title can extend over one or two lines</a:t>
            </a:r>
            <a:endParaRPr lang="en-US" sz="2800" dirty="0"/>
          </a:p>
        </p:txBody>
      </p:sp>
      <p:sp>
        <p:nvSpPr>
          <p:cNvPr id="5" name="Text Placeholder 4"/>
          <p:cNvSpPr>
            <a:spLocks noGrp="1"/>
          </p:cNvSpPr>
          <p:nvPr>
            <p:ph type="body" sz="quarter" idx="12" hasCustomPrompt="1"/>
          </p:nvPr>
        </p:nvSpPr>
        <p:spPr>
          <a:xfrm>
            <a:off x="457203" y="3728701"/>
            <a:ext cx="5397356" cy="387255"/>
          </a:xfrm>
          <a:prstGeom prst="rect">
            <a:avLst/>
          </a:prstGeom>
        </p:spPr>
        <p:txBody>
          <a:bodyPr lIns="0" tIns="0" rIns="0" bIns="0">
            <a:noAutofit/>
          </a:bodyPr>
          <a:lstStyle>
            <a:lvl1pPr marL="0" indent="0">
              <a:spcBef>
                <a:spcPts val="0"/>
              </a:spcBef>
              <a:buNone/>
              <a:defRPr sz="2000" b="0" baseline="0">
                <a:solidFill>
                  <a:schemeClr val="tx2"/>
                </a:solidFill>
              </a:defRPr>
            </a:lvl1pPr>
          </a:lstStyle>
          <a:p>
            <a:pPr lvl="0"/>
            <a:r>
              <a:rPr lang="en-US" dirty="0" smtClean="0"/>
              <a:t>Presenter Name</a:t>
            </a:r>
          </a:p>
        </p:txBody>
      </p:sp>
      <p:sp>
        <p:nvSpPr>
          <p:cNvPr id="6" name="Text Placeholder 15"/>
          <p:cNvSpPr>
            <a:spLocks noGrp="1"/>
          </p:cNvSpPr>
          <p:nvPr>
            <p:ph type="body" sz="quarter" idx="13" hasCustomPrompt="1"/>
          </p:nvPr>
        </p:nvSpPr>
        <p:spPr>
          <a:xfrm>
            <a:off x="457202" y="4115957"/>
            <a:ext cx="5397358" cy="315214"/>
          </a:xfrm>
          <a:prstGeom prst="rect">
            <a:avLst/>
          </a:prstGeom>
        </p:spPr>
        <p:txBody>
          <a:bodyPr lIns="0" tIns="0" rIns="0" bIns="0">
            <a:noAutofit/>
          </a:bodyPr>
          <a:lstStyle>
            <a:lvl1pPr marL="0" indent="0">
              <a:spcBef>
                <a:spcPts val="0"/>
              </a:spcBef>
              <a:buNone/>
              <a:defRPr sz="1500" b="0" baseline="0">
                <a:solidFill>
                  <a:schemeClr val="tx2"/>
                </a:solidFill>
              </a:defRPr>
            </a:lvl1pPr>
          </a:lstStyle>
          <a:p>
            <a:pPr lvl="0"/>
            <a:r>
              <a:rPr lang="en-US" dirty="0" smtClean="0"/>
              <a:t>Presenter Title</a:t>
            </a:r>
            <a:endParaRPr lang="en-US" dirty="0"/>
          </a:p>
        </p:txBody>
      </p:sp>
      <p:sp>
        <p:nvSpPr>
          <p:cNvPr id="7" name="Text Placeholder 15"/>
          <p:cNvSpPr>
            <a:spLocks noGrp="1"/>
          </p:cNvSpPr>
          <p:nvPr>
            <p:ph type="body" sz="quarter" idx="14" hasCustomPrompt="1"/>
          </p:nvPr>
        </p:nvSpPr>
        <p:spPr>
          <a:xfrm>
            <a:off x="457202" y="2117128"/>
            <a:ext cx="5397358" cy="315214"/>
          </a:xfrm>
          <a:prstGeom prst="rect">
            <a:avLst/>
          </a:prstGeom>
        </p:spPr>
        <p:txBody>
          <a:bodyPr lIns="0" tIns="0" rIns="0" bIns="0">
            <a:noAutofit/>
          </a:bodyPr>
          <a:lstStyle>
            <a:lvl1pPr marL="0" indent="0">
              <a:spcBef>
                <a:spcPts val="0"/>
              </a:spcBef>
              <a:buNone/>
              <a:defRPr sz="1500" b="1" baseline="0">
                <a:solidFill>
                  <a:schemeClr val="accent4"/>
                </a:solidFill>
              </a:defRPr>
            </a:lvl1pPr>
          </a:lstStyle>
          <a:p>
            <a:pPr lvl="0"/>
            <a:r>
              <a:rPr lang="en-US" dirty="0" smtClean="0"/>
              <a:t>Event name 2013</a:t>
            </a:r>
            <a:endParaRPr lang="en-US" dirty="0"/>
          </a:p>
        </p:txBody>
      </p:sp>
      <p:sp>
        <p:nvSpPr>
          <p:cNvPr id="14" name="TextBox 13"/>
          <p:cNvSpPr txBox="1"/>
          <p:nvPr/>
        </p:nvSpPr>
        <p:spPr>
          <a:xfrm>
            <a:off x="74081" y="6596295"/>
            <a:ext cx="1316904" cy="138499"/>
          </a:xfrm>
          <a:prstGeom prst="rect">
            <a:avLst/>
          </a:prstGeom>
          <a:noFill/>
        </p:spPr>
        <p:txBody>
          <a:bodyPr wrap="square" lIns="0" tIns="0" rIns="0" bIns="0" rtlCol="0">
            <a:spAutoFit/>
          </a:bodyPr>
          <a:lstStyle/>
          <a:p>
            <a:r>
              <a:rPr lang="en-US" sz="900" b="0" i="0" baseline="0" dirty="0" smtClean="0">
                <a:solidFill>
                  <a:schemeClr val="bg1">
                    <a:lumMod val="65000"/>
                  </a:schemeClr>
                </a:solidFill>
                <a:latin typeface="Frutiger Next LT W1G"/>
                <a:cs typeface="Frutiger Next LT W1G"/>
              </a:rPr>
              <a:t>© 2013 Autodesk</a:t>
            </a:r>
            <a:endParaRPr lang="en-US" sz="900" b="0" i="0" baseline="0" dirty="0">
              <a:solidFill>
                <a:schemeClr val="bg1">
                  <a:lumMod val="65000"/>
                </a:schemeClr>
              </a:solidFill>
              <a:latin typeface="Frutiger Next LT W1G"/>
              <a:cs typeface="Frutiger Next LT W1G"/>
            </a:endParaRPr>
          </a:p>
        </p:txBody>
      </p:sp>
      <p:sp>
        <p:nvSpPr>
          <p:cNvPr id="20" name="Rectangle 19"/>
          <p:cNvSpPr/>
          <p:nvPr userDrawn="1"/>
        </p:nvSpPr>
        <p:spPr>
          <a:xfrm>
            <a:off x="-12719" y="4460895"/>
            <a:ext cx="9156719" cy="423184"/>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1" name="Picture 20" descr="autodesk-logo-rgb-color-logo-black-text-large.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612987" y="4552805"/>
            <a:ext cx="1427937" cy="239365"/>
          </a:xfrm>
          <a:prstGeom prst="rect">
            <a:avLst/>
          </a:prstGeom>
        </p:spPr>
      </p:pic>
    </p:spTree>
    <p:extLst>
      <p:ext uri="{BB962C8B-B14F-4D97-AF65-F5344CB8AC3E}">
        <p14:creationId xmlns:p14="http://schemas.microsoft.com/office/powerpoint/2010/main" val="303404946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1 column)">
    <p:spTree>
      <p:nvGrpSpPr>
        <p:cNvPr id="1" name=""/>
        <p:cNvGrpSpPr/>
        <p:nvPr/>
      </p:nvGrpSpPr>
      <p:grpSpPr>
        <a:xfrm>
          <a:off x="0" y="0"/>
          <a:ext cx="0" cy="0"/>
          <a:chOff x="0" y="0"/>
          <a:chExt cx="0" cy="0"/>
        </a:xfrm>
      </p:grpSpPr>
      <p:sp>
        <p:nvSpPr>
          <p:cNvPr id="4" name="Content Placeholder 2"/>
          <p:cNvSpPr>
            <a:spLocks noGrp="1"/>
          </p:cNvSpPr>
          <p:nvPr>
            <p:ph idx="1"/>
          </p:nvPr>
        </p:nvSpPr>
        <p:spPr>
          <a:xfrm>
            <a:off x="457200" y="1417641"/>
            <a:ext cx="8229644"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solidFill>
                  <a:schemeClr val="tx1"/>
                </a:solidFill>
              </a:defRPr>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solidFill>
                  <a:schemeClr val="tx1"/>
                </a:solidFill>
              </a:defRPr>
            </a:lvl3pPr>
            <a:lvl4pPr marL="1791862" indent="-230379">
              <a:buClr>
                <a:schemeClr val="accent4"/>
              </a:buClr>
              <a:buSzPct val="100000"/>
              <a:buFont typeface="Wingdings" charset="2"/>
              <a:buChar char="§"/>
              <a:defRPr sz="1700" b="0">
                <a:solidFill>
                  <a:schemeClr val="tx1"/>
                </a:solidFill>
              </a:defRPr>
            </a:lvl4pPr>
            <a:lvl5pPr marL="2303821" indent="-201582">
              <a:buClr>
                <a:schemeClr val="accent4"/>
              </a:buClr>
              <a:buSzPct val="100000"/>
              <a:buFont typeface="Wingdings" charset="2"/>
              <a:buChar char="§"/>
              <a:defRPr sz="1500" b="0">
                <a:solidFill>
                  <a:schemeClr val="tx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dirty="0" smtClean="0"/>
              <a:t>Click to edit Master title style</a:t>
            </a:r>
            <a:endParaRPr lang="en-US" dirty="0"/>
          </a:p>
        </p:txBody>
      </p:sp>
      <p:sp>
        <p:nvSpPr>
          <p:cNvPr id="7" name="Rectangle 6"/>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dirty="0"/>
          </a:p>
        </p:txBody>
      </p:sp>
      <p:sp>
        <p:nvSpPr>
          <p:cNvPr id="8" name="TextBox 7"/>
          <p:cNvSpPr txBox="1"/>
          <p:nvPr/>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pic>
        <p:nvPicPr>
          <p:cNvPr id="16" name="Picture 15"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userDrawn="1"/>
        </p:nvSpPr>
        <p:spPr>
          <a:xfrm>
            <a:off x="3792592" y="6613830"/>
            <a:ext cx="1558815" cy="138499"/>
          </a:xfrm>
          <a:prstGeom prst="rect">
            <a:avLst/>
          </a:prstGeom>
          <a:noFill/>
        </p:spPr>
        <p:txBody>
          <a:bodyPr wrap="square" lIns="0" tIns="0" rIns="0" bIns="0" rtlCol="0">
            <a:spAutoFit/>
          </a:bodyPr>
          <a:lstStyle/>
          <a:p>
            <a:pPr algn="ctr"/>
            <a:r>
              <a:rPr lang="en-US" sz="900" b="0" i="0" dirty="0" smtClean="0">
                <a:solidFill>
                  <a:schemeClr val="tx1">
                    <a:lumMod val="65000"/>
                    <a:lumOff val="35000"/>
                  </a:schemeClr>
                </a:solidFill>
                <a:latin typeface="Frutiger Next LT W1G"/>
                <a:cs typeface="Frutiger Next LT W1G"/>
              </a:rPr>
              <a:t>Autodesk Exchange for Revit</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08939727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2 column)">
    <p:spTree>
      <p:nvGrpSpPr>
        <p:cNvPr id="1" name=""/>
        <p:cNvGrpSpPr/>
        <p:nvPr/>
      </p:nvGrpSpPr>
      <p:grpSpPr>
        <a:xfrm>
          <a:off x="0" y="0"/>
          <a:ext cx="0" cy="0"/>
          <a:chOff x="0" y="0"/>
          <a:chExt cx="0" cy="0"/>
        </a:xfrm>
      </p:grpSpPr>
      <p:sp>
        <p:nvSpPr>
          <p:cNvPr id="8"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smtClean="0"/>
              <a:t>Click to edit Master title style</a:t>
            </a:r>
            <a:endParaRPr lang="en-US" dirty="0"/>
          </a:p>
        </p:txBody>
      </p:sp>
      <p:sp>
        <p:nvSpPr>
          <p:cNvPr id="13"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98441" indent="-339706">
              <a:buClr>
                <a:schemeClr val="accent4"/>
              </a:buClr>
              <a:buSzPct val="100000"/>
              <a:buFont typeface="Wingdings" pitchFamily="2" charset="2"/>
              <a:buChar char="§"/>
              <a:defRPr sz="2800" b="0"/>
            </a:lvl1pPr>
            <a:lvl2pPr marL="1011920" indent="-467958">
              <a:buClr>
                <a:schemeClr val="accent4"/>
              </a:buClr>
              <a:buSzPct val="100000"/>
              <a:buFont typeface="Wingdings" pitchFamily="2" charset="2"/>
              <a:buChar char="§"/>
              <a:defRPr sz="2300" b="0">
                <a:solidFill>
                  <a:schemeClr val="tx1"/>
                </a:solidFill>
              </a:defRPr>
            </a:lvl2pPr>
            <a:lvl3pPr marL="1344695" indent="-323971">
              <a:buClr>
                <a:schemeClr val="accent4"/>
              </a:buClr>
              <a:buSzPct val="100000"/>
              <a:buFont typeface="Wingdings" pitchFamily="2" charset="2"/>
              <a:buChar char="§"/>
              <a:defRPr sz="2000" b="0"/>
            </a:lvl3pPr>
            <a:lvl4pPr marL="1885453" indent="-323971">
              <a:buClr>
                <a:schemeClr val="accent4"/>
              </a:buClr>
              <a:buSzPct val="100000"/>
              <a:buFont typeface="Wingdings" pitchFamily="2" charset="2"/>
              <a:buChar char="§"/>
              <a:defRPr sz="1700" b="0"/>
            </a:lvl4pPr>
            <a:lvl5pPr marL="2390214" indent="-287974">
              <a:buClr>
                <a:schemeClr val="accent4"/>
              </a:buClr>
              <a:buSzPct val="100000"/>
              <a:buFont typeface="Wingdings" pitchFamily="2"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4" name="Content Placeholder 2"/>
          <p:cNvSpPr>
            <a:spLocks noGrp="1"/>
          </p:cNvSpPr>
          <p:nvPr>
            <p:ph idx="18"/>
          </p:nvPr>
        </p:nvSpPr>
        <p:spPr>
          <a:xfrm>
            <a:off x="4646614" y="1417640"/>
            <a:ext cx="4040187" cy="4767281"/>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6" name="Rectangle 5"/>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9" name="Picture 8"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1" name="TextBox 10"/>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32982385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Text and Images">
    <p:spTree>
      <p:nvGrpSpPr>
        <p:cNvPr id="1" name=""/>
        <p:cNvGrpSpPr/>
        <p:nvPr/>
      </p:nvGrpSpPr>
      <p:grpSpPr>
        <a:xfrm>
          <a:off x="0" y="0"/>
          <a:ext cx="0" cy="0"/>
          <a:chOff x="0" y="0"/>
          <a:chExt cx="0" cy="0"/>
        </a:xfrm>
      </p:grpSpPr>
      <p:sp>
        <p:nvSpPr>
          <p:cNvPr id="9" name="Picture Placeholder 6"/>
          <p:cNvSpPr>
            <a:spLocks noGrp="1"/>
          </p:cNvSpPr>
          <p:nvPr>
            <p:ph type="pic" sz="quarter" idx="13"/>
          </p:nvPr>
        </p:nvSpPr>
        <p:spPr>
          <a:xfrm>
            <a:off x="4646568" y="1417639"/>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a:solidFill>
                  <a:schemeClr val="accent4"/>
                </a:solidFill>
              </a:defRPr>
            </a:lvl1pPr>
          </a:lstStyle>
          <a:p>
            <a:r>
              <a:rPr lang="en-US" smtClean="0"/>
              <a:t>Click to edit Master title style</a:t>
            </a:r>
            <a:endParaRPr lang="en-US" dirty="0"/>
          </a:p>
        </p:txBody>
      </p:sp>
      <p:sp>
        <p:nvSpPr>
          <p:cNvPr id="17" name="Text Placeholder 16"/>
          <p:cNvSpPr>
            <a:spLocks noGrp="1"/>
          </p:cNvSpPr>
          <p:nvPr>
            <p:ph type="body" sz="quarter" idx="14" hasCustomPrompt="1"/>
          </p:nvPr>
        </p:nvSpPr>
        <p:spPr>
          <a:xfrm>
            <a:off x="4646568" y="3578380"/>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2"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1" name="Picture Placeholder 6"/>
          <p:cNvSpPr>
            <a:spLocks noGrp="1"/>
          </p:cNvSpPr>
          <p:nvPr>
            <p:ph type="pic" sz="quarter" idx="18"/>
          </p:nvPr>
        </p:nvSpPr>
        <p:spPr>
          <a:xfrm>
            <a:off x="4646568" y="3852667"/>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4" name="Text Placeholder 16"/>
          <p:cNvSpPr>
            <a:spLocks noGrp="1"/>
          </p:cNvSpPr>
          <p:nvPr>
            <p:ph type="body" sz="quarter" idx="19" hasCustomPrompt="1"/>
          </p:nvPr>
        </p:nvSpPr>
        <p:spPr>
          <a:xfrm>
            <a:off x="4646568" y="6013407"/>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8" name="Rectangle 17"/>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13" name="Picture 12"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9" name="TextBox 18"/>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24923577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2" name="Title 1"/>
          <p:cNvSpPr>
            <a:spLocks noGrp="1"/>
          </p:cNvSpPr>
          <p:nvPr>
            <p:ph type="title"/>
          </p:nvPr>
        </p:nvSpPr>
        <p:spPr>
          <a:xfrm>
            <a:off x="417260" y="256035"/>
            <a:ext cx="8266177" cy="996229"/>
          </a:xfrm>
          <a:prstGeom prst="rect">
            <a:avLst/>
          </a:prstGeom>
        </p:spPr>
        <p:txBody>
          <a:bodyPr lIns="57594" tIns="28797" rIns="57594" bIns="28797"/>
          <a:lstStyle>
            <a:lvl1pPr>
              <a:defRPr baseline="0">
                <a:solidFill>
                  <a:schemeClr val="accent4"/>
                </a:solidFill>
              </a:defRPr>
            </a:lvl1pPr>
          </a:lstStyle>
          <a:p>
            <a:r>
              <a:rPr lang="en-US" smtClean="0"/>
              <a:t>Click to edit Master title style</a:t>
            </a:r>
            <a:endParaRPr lang="en-US" dirty="0"/>
          </a:p>
        </p:txBody>
      </p:sp>
      <p:sp>
        <p:nvSpPr>
          <p:cNvPr id="3" name="Content Placeholder 2"/>
          <p:cNvSpPr>
            <a:spLocks noGrp="1"/>
          </p:cNvSpPr>
          <p:nvPr>
            <p:ph idx="1"/>
          </p:nvPr>
        </p:nvSpPr>
        <p:spPr>
          <a:xfrm>
            <a:off x="417260" y="1508760"/>
            <a:ext cx="8266177" cy="4709161"/>
          </a:xfrm>
          <a:prstGeom prst="rect">
            <a:avLst/>
          </a:prstGeom>
        </p:spPr>
        <p:txBody>
          <a:bodyPr lIns="57594" tIns="28797" rIns="57594" bIns="28797"/>
          <a:lstStyle>
            <a:lvl1pPr>
              <a:buClr>
                <a:schemeClr val="accent4"/>
              </a:buClr>
              <a:defRPr/>
            </a:lvl1pPr>
            <a:lvl2pPr>
              <a:buClr>
                <a:schemeClr val="accent4"/>
              </a:buClr>
              <a:defRPr/>
            </a:lvl2pPr>
            <a:lvl3pPr>
              <a:buClr>
                <a:schemeClr val="accent4"/>
              </a:buClr>
              <a:defRPr/>
            </a:lvl3pPr>
            <a:lvl4pPr>
              <a:buClr>
                <a:schemeClr val="accent4"/>
              </a:buClr>
              <a:defRPr/>
            </a:lvl4pPr>
            <a:lvl5pPr>
              <a:buClr>
                <a:schemeClr val="accent4"/>
              </a:buClr>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Slide Number Placeholder 3"/>
          <p:cNvSpPr>
            <a:spLocks noGrp="1"/>
          </p:cNvSpPr>
          <p:nvPr>
            <p:ph type="sldNum" sz="quarter" idx="10"/>
          </p:nvPr>
        </p:nvSpPr>
        <p:spPr>
          <a:xfrm>
            <a:off x="4277852" y="6452642"/>
            <a:ext cx="543077" cy="364331"/>
          </a:xfrm>
          <a:prstGeom prst="rect">
            <a:avLst/>
          </a:prstGeom>
        </p:spPr>
        <p:txBody>
          <a:bodyPr lIns="57594" tIns="28797" rIns="57594" bIns="28797"/>
          <a:lstStyle>
            <a:lvl1pPr algn="ctr">
              <a:defRPr sz="1800">
                <a:latin typeface="Frutiger Next LT W1G" pitchFamily="34" charset="0"/>
              </a:defRPr>
            </a:lvl1pPr>
          </a:lstStyle>
          <a:p>
            <a:fld id="{F734506C-EF52-4FF2-9904-C2A4DBD83A4B}" type="slidenum">
              <a:rPr lang="en-US" smtClean="0"/>
              <a:pPr/>
              <a:t>‹#›</a:t>
            </a:fld>
            <a:endParaRPr lang="en-US" dirty="0"/>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p:nvSpPr>
        <p:spPr>
          <a:xfrm>
            <a:off x="74081" y="6596295"/>
            <a:ext cx="1636572"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541264188"/>
      </p:ext>
    </p:extLst>
  </p:cSld>
  <p:clrMapOvr>
    <a:masterClrMapping/>
  </p:clrMapOvr>
  <p:transition/>
  <p:timing>
    <p:tnLst>
      <p:par>
        <p:cTn id="1" dur="indefinite" restart="never" nodeType="tmRoot"/>
      </p:par>
    </p:tnLst>
  </p:timing>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0" name="Title 9"/>
          <p:cNvSpPr>
            <a:spLocks noGrp="1"/>
          </p:cNvSpPr>
          <p:nvPr>
            <p:ph type="title" hasCustomPrompt="1"/>
          </p:nvPr>
        </p:nvSpPr>
        <p:spPr>
          <a:xfrm>
            <a:off x="457200" y="2745696"/>
            <a:ext cx="8229600" cy="1143000"/>
          </a:xfrm>
          <a:prstGeom prst="rect">
            <a:avLst/>
          </a:prstGeom>
        </p:spPr>
        <p:txBody>
          <a:bodyPr anchor="ctr"/>
          <a:lstStyle>
            <a:lvl1pPr algn="ctr">
              <a:defRPr sz="10000">
                <a:solidFill>
                  <a:schemeClr val="accent4"/>
                </a:solidFill>
              </a:defRPr>
            </a:lvl1pPr>
          </a:lstStyle>
          <a:p>
            <a:r>
              <a:rPr lang="en-US" dirty="0" smtClean="0"/>
              <a:t>Keyword</a:t>
            </a:r>
            <a:endParaRPr lang="en-US" dirty="0"/>
          </a:p>
        </p:txBody>
      </p:sp>
      <p:sp>
        <p:nvSpPr>
          <p:cNvPr id="6" name="TextBox 5"/>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658609359"/>
      </p:ext>
    </p:extLst>
  </p:cSld>
  <p:clrMapOvr>
    <a:masterClrMapping/>
  </p:clrMapOvr>
  <p:transition/>
  <p:timing>
    <p:tnLst>
      <p:par>
        <p:cTn id="1" dur="indefinite" restart="never" nodeType="tmRoot"/>
      </p:par>
    </p:tnLst>
  </p:timing>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4" name="TextBox 3"/>
          <p:cNvSpPr txBox="1"/>
          <p:nvPr/>
        </p:nvSpPr>
        <p:spPr>
          <a:xfrm>
            <a:off x="220961" y="6037116"/>
            <a:ext cx="8772932" cy="692497"/>
          </a:xfrm>
          <a:prstGeom prst="rect">
            <a:avLst/>
          </a:prstGeom>
          <a:noFill/>
        </p:spPr>
        <p:txBody>
          <a:bodyPr wrap="square" lIns="0" tIns="0" rIns="0" bIns="0" rtlCol="0">
            <a:spAutoFit/>
          </a:bodyPr>
          <a:lstStyle/>
          <a:p>
            <a:r>
              <a:rPr lang="en-US" sz="900" b="0" i="0" dirty="0" smtClean="0">
                <a:solidFill>
                  <a:schemeClr val="bg1">
                    <a:lumMod val="65000"/>
                  </a:schemeClr>
                </a:solidFill>
                <a:latin typeface="Frutiger Next LT W1G"/>
                <a:cs typeface="Frutiger Next LT W1G"/>
              </a:rPr>
              <a:t>Autodesk is a registered trademark of Autodesk, Inc., and/or its subsidiaries and/or affiliates in the USA and/or other countries. All other brand names, product names, or trademarks belong to their respective holders. Autodesk reserves the right to alter product and services offerings, and specifications and pricing at any time without notice, and is not responsible for typographical or graphical errors that may appear in this document.</a:t>
            </a:r>
          </a:p>
          <a:p>
            <a:endParaRPr lang="en-US" sz="900" b="0" i="0" dirty="0" smtClean="0">
              <a:solidFill>
                <a:schemeClr val="bg1">
                  <a:lumMod val="65000"/>
                </a:schemeClr>
              </a:solidFill>
              <a:latin typeface="Frutiger Next LT W1G"/>
              <a:cs typeface="Frutiger Next LT W1G"/>
            </a:endParaRPr>
          </a:p>
          <a:p>
            <a:r>
              <a:rPr lang="en-US" sz="900" b="0" i="0" dirty="0" smtClean="0">
                <a:solidFill>
                  <a:schemeClr val="bg1">
                    <a:lumMod val="65000"/>
                  </a:schemeClr>
                </a:solidFill>
                <a:latin typeface="Frutiger Next LT W1G"/>
                <a:cs typeface="Frutiger Next LT W1G"/>
              </a:rPr>
              <a:t>© 2013 Autodesk, Inc. All right</a:t>
            </a:r>
            <a:r>
              <a:rPr lang="en-US" sz="900" b="0" i="0" baseline="0" dirty="0" smtClean="0">
                <a:solidFill>
                  <a:schemeClr val="bg1">
                    <a:lumMod val="65000"/>
                  </a:schemeClr>
                </a:solidFill>
                <a:latin typeface="Frutiger Next LT W1G"/>
                <a:cs typeface="Frutiger Next LT W1G"/>
              </a:rPr>
              <a:t>s reserved.</a:t>
            </a:r>
            <a:endParaRPr lang="en-US" sz="900" b="0" i="0" dirty="0">
              <a:solidFill>
                <a:schemeClr val="bg1">
                  <a:lumMod val="65000"/>
                </a:schemeClr>
              </a:solidFill>
              <a:latin typeface="Frutiger Next LT W1G"/>
              <a:cs typeface="Frutiger Next LT W1G"/>
            </a:endParaRPr>
          </a:p>
        </p:txBody>
      </p:sp>
      <p:pic>
        <p:nvPicPr>
          <p:cNvPr id="6" name="Picture 5" descr="autodesk-logo-rgb-color-logo-black-text-large.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478612" y="2771429"/>
            <a:ext cx="6178740" cy="1035742"/>
          </a:xfrm>
          <a:prstGeom prst="rect">
            <a:avLst/>
          </a:prstGeom>
        </p:spPr>
      </p:pic>
    </p:spTree>
    <p:extLst>
      <p:ext uri="{BB962C8B-B14F-4D97-AF65-F5344CB8AC3E}">
        <p14:creationId xmlns:p14="http://schemas.microsoft.com/office/powerpoint/2010/main" val="2889972964"/>
      </p:ext>
    </p:extLst>
  </p:cSld>
  <p:clrMapOvr>
    <a:masterClrMapping/>
  </p:clrMapOvr>
  <p:timing>
    <p:tnLst>
      <p:par>
        <p:cTn id="1" dur="indefinite" restart="never" nodeType="tmRoot"/>
      </p:par>
    </p:tnLst>
  </p:timing>
  <p:hf sldNum="0" hd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0">
          <a:gsLst>
            <a:gs pos="0">
              <a:schemeClr val="bg1"/>
            </a:gs>
            <a:gs pos="100000">
              <a:schemeClr val="bg1">
                <a:lumMod val="65000"/>
                <a:alpha val="56000"/>
              </a:schemeClr>
            </a:gs>
            <a:gs pos="55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5124512"/>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3" r:id="rId5"/>
    <p:sldLayoutId id="2147483678" r:id="rId6"/>
    <p:sldLayoutId id="2147483672" r:id="rId7"/>
  </p:sldLayoutIdLst>
  <p:timing>
    <p:tnLst>
      <p:par>
        <p:cTn id="1" dur="indefinite" restart="never" nodeType="tmRoot"/>
      </p:par>
    </p:tnLst>
  </p:timing>
  <p:hf sldNum="0" hdr="0" dt="0"/>
  <p:txStyles>
    <p:titleStyle>
      <a:lvl1pPr algn="l" defTabSz="511960" rtl="0" eaLnBrk="1" latinLnBrk="0" hangingPunct="1">
        <a:spcBef>
          <a:spcPct val="0"/>
        </a:spcBef>
        <a:buNone/>
        <a:defRPr sz="2800" b="1" i="0" kern="1200" baseline="0">
          <a:solidFill>
            <a:srgbClr val="1B58A8"/>
          </a:solidFill>
          <a:latin typeface="Frutiger Next LT W1G"/>
          <a:ea typeface="+mj-ea"/>
          <a:cs typeface="Frutiger Next LT W1G"/>
        </a:defRPr>
      </a:lvl1pPr>
    </p:titleStyle>
    <p:bodyStyle>
      <a:lvl1pPr marL="431961" indent="-431961" algn="l" defTabSz="511960" rtl="0" eaLnBrk="1" latinLnBrk="0" hangingPunct="1">
        <a:spcBef>
          <a:spcPts val="0"/>
        </a:spcBef>
        <a:buFont typeface="Wingdings" charset="2"/>
        <a:buChar char="§"/>
        <a:defRPr sz="2800" b="0" i="0" kern="1200" baseline="0">
          <a:solidFill>
            <a:schemeClr val="tx1"/>
          </a:solidFill>
          <a:latin typeface="Frutiger Next LT W1G"/>
          <a:ea typeface="+mn-ea"/>
          <a:cs typeface="Frutiger Next LT W1G"/>
        </a:defRPr>
      </a:lvl1pPr>
      <a:lvl2pPr marL="831936" indent="-319975" algn="l" defTabSz="511960" rtl="0" eaLnBrk="1" latinLnBrk="0" hangingPunct="1">
        <a:spcBef>
          <a:spcPct val="20000"/>
        </a:spcBef>
        <a:buFont typeface="Wingdings" charset="2"/>
        <a:buChar char="§"/>
        <a:defRPr sz="2300" b="0" i="0" kern="1200">
          <a:solidFill>
            <a:schemeClr val="tx1"/>
          </a:solidFill>
          <a:latin typeface="Frutiger Next LT W1G"/>
          <a:ea typeface="+mn-ea"/>
          <a:cs typeface="Frutiger Next LT W1G"/>
        </a:defRPr>
      </a:lvl2pPr>
      <a:lvl3pPr marL="1279901" indent="-255981" algn="l" defTabSz="511960" rtl="0" eaLnBrk="1" latinLnBrk="0" hangingPunct="1">
        <a:spcBef>
          <a:spcPct val="20000"/>
        </a:spcBef>
        <a:buFont typeface="Wingdings" charset="2"/>
        <a:buChar char="§"/>
        <a:defRPr sz="2000" b="0" i="0" kern="1200">
          <a:solidFill>
            <a:schemeClr val="tx1"/>
          </a:solidFill>
          <a:latin typeface="Frutiger Next LT W1G"/>
          <a:ea typeface="+mn-ea"/>
          <a:cs typeface="Frutiger Next LT W1G"/>
        </a:defRPr>
      </a:lvl3pPr>
      <a:lvl4pPr marL="1791862" indent="-255981" algn="l" defTabSz="511960" rtl="0" eaLnBrk="1" latinLnBrk="0" hangingPunct="1">
        <a:spcBef>
          <a:spcPct val="20000"/>
        </a:spcBef>
        <a:buFont typeface="Wingdings" charset="2"/>
        <a:buChar char="§"/>
        <a:defRPr sz="1700" b="0" i="0" kern="1200">
          <a:solidFill>
            <a:schemeClr val="tx1"/>
          </a:solidFill>
          <a:latin typeface="Frutiger Next LT W1G"/>
          <a:ea typeface="+mn-ea"/>
          <a:cs typeface="Frutiger Next LT W1G"/>
        </a:defRPr>
      </a:lvl4pPr>
      <a:lvl5pPr marL="2303821" indent="-255981" algn="l" defTabSz="511960" rtl="0" eaLnBrk="1" latinLnBrk="0" hangingPunct="1">
        <a:spcBef>
          <a:spcPct val="20000"/>
        </a:spcBef>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p:bodyStyle>
    <p:otherStyle>
      <a:defPPr>
        <a:defRPr lang="en-US"/>
      </a:defPPr>
      <a:lvl1pPr marL="0" algn="l" defTabSz="511960" rtl="0" eaLnBrk="1" latinLnBrk="0" hangingPunct="1">
        <a:defRPr sz="2000" kern="1200">
          <a:solidFill>
            <a:schemeClr val="tx1"/>
          </a:solidFill>
          <a:latin typeface="+mn-lt"/>
          <a:ea typeface="+mn-ea"/>
          <a:cs typeface="+mn-cs"/>
        </a:defRPr>
      </a:lvl1pPr>
      <a:lvl2pPr marL="511960" algn="l" defTabSz="511960" rtl="0" eaLnBrk="1" latinLnBrk="0" hangingPunct="1">
        <a:defRPr sz="2000" kern="1200">
          <a:solidFill>
            <a:schemeClr val="tx1"/>
          </a:solidFill>
          <a:latin typeface="+mn-lt"/>
          <a:ea typeface="+mn-ea"/>
          <a:cs typeface="+mn-cs"/>
        </a:defRPr>
      </a:lvl2pPr>
      <a:lvl3pPr marL="1023921" algn="l" defTabSz="511960" rtl="0" eaLnBrk="1" latinLnBrk="0" hangingPunct="1">
        <a:defRPr sz="2000" kern="1200">
          <a:solidFill>
            <a:schemeClr val="tx1"/>
          </a:solidFill>
          <a:latin typeface="+mn-lt"/>
          <a:ea typeface="+mn-ea"/>
          <a:cs typeface="+mn-cs"/>
        </a:defRPr>
      </a:lvl3pPr>
      <a:lvl4pPr marL="1535881" algn="l" defTabSz="511960" rtl="0" eaLnBrk="1" latinLnBrk="0" hangingPunct="1">
        <a:defRPr sz="2000" kern="1200">
          <a:solidFill>
            <a:schemeClr val="tx1"/>
          </a:solidFill>
          <a:latin typeface="+mn-lt"/>
          <a:ea typeface="+mn-ea"/>
          <a:cs typeface="+mn-cs"/>
        </a:defRPr>
      </a:lvl4pPr>
      <a:lvl5pPr marL="2047842" algn="l" defTabSz="511960" rtl="0" eaLnBrk="1" latinLnBrk="0" hangingPunct="1">
        <a:defRPr sz="2000" kern="1200">
          <a:solidFill>
            <a:schemeClr val="tx1"/>
          </a:solidFill>
          <a:latin typeface="+mn-lt"/>
          <a:ea typeface="+mn-ea"/>
          <a:cs typeface="+mn-cs"/>
        </a:defRPr>
      </a:lvl5pPr>
      <a:lvl6pPr marL="2559802" algn="l" defTabSz="511960" rtl="0" eaLnBrk="1" latinLnBrk="0" hangingPunct="1">
        <a:defRPr sz="2000" kern="1200">
          <a:solidFill>
            <a:schemeClr val="tx1"/>
          </a:solidFill>
          <a:latin typeface="+mn-lt"/>
          <a:ea typeface="+mn-ea"/>
          <a:cs typeface="+mn-cs"/>
        </a:defRPr>
      </a:lvl6pPr>
      <a:lvl7pPr marL="3071762" algn="l" defTabSz="511960" rtl="0" eaLnBrk="1" latinLnBrk="0" hangingPunct="1">
        <a:defRPr sz="2000" kern="1200">
          <a:solidFill>
            <a:schemeClr val="tx1"/>
          </a:solidFill>
          <a:latin typeface="+mn-lt"/>
          <a:ea typeface="+mn-ea"/>
          <a:cs typeface="+mn-cs"/>
        </a:defRPr>
      </a:lvl7pPr>
      <a:lvl8pPr marL="3583723" algn="l" defTabSz="511960" rtl="0" eaLnBrk="1" latinLnBrk="0" hangingPunct="1">
        <a:defRPr sz="2000" kern="1200">
          <a:solidFill>
            <a:schemeClr val="tx1"/>
          </a:solidFill>
          <a:latin typeface="+mn-lt"/>
          <a:ea typeface="+mn-ea"/>
          <a:cs typeface="+mn-cs"/>
        </a:defRPr>
      </a:lvl8pPr>
      <a:lvl9pPr marL="4095683" algn="l" defTabSz="511960" rtl="0" eaLnBrk="1" latinLnBrk="0" hangingPunct="1">
        <a:defRPr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apps.exchange.autodesk.com/RVT/en/Home" TargetMode="External"/><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usa.autodesk.com/adsk/servlet/item?siteID=123112&amp;id=20149658"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p:txBody>
          <a:bodyPr/>
          <a:lstStyle/>
          <a:p>
            <a:r>
              <a:rPr lang="en-US" dirty="0" smtClean="0"/>
              <a:t>Submission Process</a:t>
            </a:r>
            <a:endParaRPr lang="en-US" dirty="0"/>
          </a:p>
        </p:txBody>
      </p:sp>
      <p:sp>
        <p:nvSpPr>
          <p:cNvPr id="3" name="Text Placeholder 4"/>
          <p:cNvSpPr>
            <a:spLocks noGrp="1"/>
          </p:cNvSpPr>
          <p:nvPr>
            <p:ph type="body" sz="quarter" idx="14"/>
          </p:nvPr>
        </p:nvSpPr>
        <p:spPr>
          <a:xfrm>
            <a:off x="457202" y="2117128"/>
            <a:ext cx="5397358" cy="315214"/>
          </a:xfrm>
        </p:spPr>
        <p:txBody>
          <a:bodyPr/>
          <a:lstStyle/>
          <a:p>
            <a:r>
              <a:rPr lang="en-US" dirty="0"/>
              <a:t>Autodesk Exchange for Autodesk</a:t>
            </a:r>
            <a:r>
              <a:rPr lang="en-US" baseline="30000" dirty="0"/>
              <a:t>®</a:t>
            </a:r>
            <a:r>
              <a:rPr lang="en-US" dirty="0"/>
              <a:t> Revit</a:t>
            </a:r>
            <a:r>
              <a:rPr lang="en-US" baseline="30000" dirty="0"/>
              <a:t>®  </a:t>
            </a:r>
          </a:p>
        </p:txBody>
      </p:sp>
    </p:spTree>
    <p:extLst>
      <p:ext uri="{BB962C8B-B14F-4D97-AF65-F5344CB8AC3E}">
        <p14:creationId xmlns:p14="http://schemas.microsoft.com/office/powerpoint/2010/main" val="16683076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Publishing Workflow Overview </a:t>
            </a:r>
            <a:endParaRPr lang="en-US" dirty="0"/>
          </a:p>
        </p:txBody>
      </p:sp>
      <p:grpSp>
        <p:nvGrpSpPr>
          <p:cNvPr id="11" name="Group 10"/>
          <p:cNvGrpSpPr/>
          <p:nvPr/>
        </p:nvGrpSpPr>
        <p:grpSpPr>
          <a:xfrm>
            <a:off x="1178288" y="2521199"/>
            <a:ext cx="5550037" cy="3083570"/>
            <a:chOff x="1886735" y="2423196"/>
            <a:chExt cx="5957223" cy="3309795"/>
          </a:xfrm>
        </p:grpSpPr>
        <p:sp>
          <p:nvSpPr>
            <p:cNvPr id="12" name="Freeform 11"/>
            <p:cNvSpPr/>
            <p:nvPr/>
          </p:nvSpPr>
          <p:spPr>
            <a:xfrm>
              <a:off x="3872160" y="4387251"/>
              <a:ext cx="1345740" cy="1345740"/>
            </a:xfrm>
            <a:custGeom>
              <a:avLst/>
              <a:gdLst>
                <a:gd name="connsiteX0" fmla="*/ 0 w 1430178"/>
                <a:gd name="connsiteY0" fmla="*/ 238368 h 1430178"/>
                <a:gd name="connsiteX1" fmla="*/ 238368 w 1430178"/>
                <a:gd name="connsiteY1" fmla="*/ 0 h 1430178"/>
                <a:gd name="connsiteX2" fmla="*/ 1191810 w 1430178"/>
                <a:gd name="connsiteY2" fmla="*/ 0 h 1430178"/>
                <a:gd name="connsiteX3" fmla="*/ 1430178 w 1430178"/>
                <a:gd name="connsiteY3" fmla="*/ 238368 h 1430178"/>
                <a:gd name="connsiteX4" fmla="*/ 1430178 w 1430178"/>
                <a:gd name="connsiteY4" fmla="*/ 1191810 h 1430178"/>
                <a:gd name="connsiteX5" fmla="*/ 1191810 w 1430178"/>
                <a:gd name="connsiteY5" fmla="*/ 1430178 h 1430178"/>
                <a:gd name="connsiteX6" fmla="*/ 238368 w 1430178"/>
                <a:gd name="connsiteY6" fmla="*/ 1430178 h 1430178"/>
                <a:gd name="connsiteX7" fmla="*/ 0 w 1430178"/>
                <a:gd name="connsiteY7" fmla="*/ 1191810 h 1430178"/>
                <a:gd name="connsiteX8" fmla="*/ 0 w 1430178"/>
                <a:gd name="connsiteY8" fmla="*/ 238368 h 143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0178" h="1430178">
                  <a:moveTo>
                    <a:pt x="0" y="238368"/>
                  </a:moveTo>
                  <a:cubicBezTo>
                    <a:pt x="0" y="106721"/>
                    <a:pt x="106721" y="0"/>
                    <a:pt x="238368" y="0"/>
                  </a:cubicBezTo>
                  <a:lnTo>
                    <a:pt x="1191810" y="0"/>
                  </a:lnTo>
                  <a:cubicBezTo>
                    <a:pt x="1323457" y="0"/>
                    <a:pt x="1430178" y="106721"/>
                    <a:pt x="1430178" y="238368"/>
                  </a:cubicBezTo>
                  <a:lnTo>
                    <a:pt x="1430178" y="1191810"/>
                  </a:lnTo>
                  <a:cubicBezTo>
                    <a:pt x="1430178" y="1323457"/>
                    <a:pt x="1323457" y="1430178"/>
                    <a:pt x="1191810" y="1430178"/>
                  </a:cubicBezTo>
                  <a:lnTo>
                    <a:pt x="238368" y="1430178"/>
                  </a:lnTo>
                  <a:cubicBezTo>
                    <a:pt x="106721" y="1430178"/>
                    <a:pt x="0" y="1323457"/>
                    <a:pt x="0" y="1191810"/>
                  </a:cubicBezTo>
                  <a:lnTo>
                    <a:pt x="0" y="238368"/>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0456" tIns="110456" rIns="110456" bIns="110456" numCol="1" spcCol="1270" anchor="ctr" anchorCtr="0">
              <a:noAutofit/>
            </a:bodyPr>
            <a:lstStyle/>
            <a:p>
              <a:pPr lvl="0" algn="ctr" defTabSz="711200">
                <a:lnSpc>
                  <a:spcPct val="90000"/>
                </a:lnSpc>
                <a:spcBef>
                  <a:spcPct val="0"/>
                </a:spcBef>
                <a:spcAft>
                  <a:spcPct val="35000"/>
                </a:spcAft>
              </a:pPr>
              <a:r>
                <a:rPr lang="en-US" sz="1600" b="1" kern="1200" dirty="0" smtClean="0"/>
                <a:t>2. Publish-</a:t>
              </a:r>
              <a:r>
                <a:rPr lang="en-US" sz="1600" b="1" kern="1200" dirty="0" err="1" smtClean="0"/>
                <a:t>ing</a:t>
              </a:r>
              <a:r>
                <a:rPr lang="en-US" sz="1600" b="1" kern="1200" dirty="0" smtClean="0"/>
                <a:t> Info. </a:t>
              </a:r>
              <a:endParaRPr lang="en-US" sz="1400" b="1" kern="1200" dirty="0"/>
            </a:p>
          </p:txBody>
        </p:sp>
        <p:sp>
          <p:nvSpPr>
            <p:cNvPr id="14" name="Freeform 13"/>
            <p:cNvSpPr/>
            <p:nvPr/>
          </p:nvSpPr>
          <p:spPr>
            <a:xfrm>
              <a:off x="3834684" y="2423196"/>
              <a:ext cx="1383217" cy="1383217"/>
            </a:xfrm>
            <a:custGeom>
              <a:avLst/>
              <a:gdLst>
                <a:gd name="connsiteX0" fmla="*/ 0 w 1505104"/>
                <a:gd name="connsiteY0" fmla="*/ 250856 h 1505104"/>
                <a:gd name="connsiteX1" fmla="*/ 250856 w 1505104"/>
                <a:gd name="connsiteY1" fmla="*/ 0 h 1505104"/>
                <a:gd name="connsiteX2" fmla="*/ 1254248 w 1505104"/>
                <a:gd name="connsiteY2" fmla="*/ 0 h 1505104"/>
                <a:gd name="connsiteX3" fmla="*/ 1505104 w 1505104"/>
                <a:gd name="connsiteY3" fmla="*/ 250856 h 1505104"/>
                <a:gd name="connsiteX4" fmla="*/ 1505104 w 1505104"/>
                <a:gd name="connsiteY4" fmla="*/ 1254248 h 1505104"/>
                <a:gd name="connsiteX5" fmla="*/ 1254248 w 1505104"/>
                <a:gd name="connsiteY5" fmla="*/ 1505104 h 1505104"/>
                <a:gd name="connsiteX6" fmla="*/ 250856 w 1505104"/>
                <a:gd name="connsiteY6" fmla="*/ 1505104 h 1505104"/>
                <a:gd name="connsiteX7" fmla="*/ 0 w 1505104"/>
                <a:gd name="connsiteY7" fmla="*/ 1254248 h 1505104"/>
                <a:gd name="connsiteX8" fmla="*/ 0 w 1505104"/>
                <a:gd name="connsiteY8" fmla="*/ 250856 h 1505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5104" h="1505104">
                  <a:moveTo>
                    <a:pt x="0" y="250856"/>
                  </a:moveTo>
                  <a:cubicBezTo>
                    <a:pt x="0" y="112312"/>
                    <a:pt x="112312" y="0"/>
                    <a:pt x="250856" y="0"/>
                  </a:cubicBezTo>
                  <a:lnTo>
                    <a:pt x="1254248" y="0"/>
                  </a:lnTo>
                  <a:cubicBezTo>
                    <a:pt x="1392792" y="0"/>
                    <a:pt x="1505104" y="112312"/>
                    <a:pt x="1505104" y="250856"/>
                  </a:cubicBezTo>
                  <a:lnTo>
                    <a:pt x="1505104" y="1254248"/>
                  </a:lnTo>
                  <a:cubicBezTo>
                    <a:pt x="1505104" y="1392792"/>
                    <a:pt x="1392792" y="1505104"/>
                    <a:pt x="1254248" y="1505104"/>
                  </a:cubicBezTo>
                  <a:lnTo>
                    <a:pt x="250856" y="1505104"/>
                  </a:lnTo>
                  <a:cubicBezTo>
                    <a:pt x="112312" y="1505104"/>
                    <a:pt x="0" y="1392792"/>
                    <a:pt x="0" y="1254248"/>
                  </a:cubicBezTo>
                  <a:lnTo>
                    <a:pt x="0" y="250856"/>
                  </a:lnTo>
                  <a:close/>
                </a:path>
              </a:pathLst>
            </a:custGeom>
          </p:spPr>
          <p:style>
            <a:lnRef idx="2">
              <a:schemeClr val="lt1">
                <a:hueOff val="0"/>
                <a:satOff val="0"/>
                <a:lumOff val="0"/>
                <a:alphaOff val="0"/>
              </a:schemeClr>
            </a:lnRef>
            <a:fillRef idx="1">
              <a:schemeClr val="accent3">
                <a:hueOff val="503628"/>
                <a:satOff val="12197"/>
                <a:lumOff val="-1111"/>
                <a:alphaOff val="0"/>
              </a:schemeClr>
            </a:fillRef>
            <a:effectRef idx="0">
              <a:schemeClr val="accent3">
                <a:hueOff val="503628"/>
                <a:satOff val="12197"/>
                <a:lumOff val="-1111"/>
                <a:alphaOff val="0"/>
              </a:schemeClr>
            </a:effectRef>
            <a:fontRef idx="minor">
              <a:schemeClr val="lt1"/>
            </a:fontRef>
          </p:style>
          <p:txBody>
            <a:bodyPr spcFirstLastPara="0" vert="horz" wrap="square" lIns="114113" tIns="114113" rIns="114113" bIns="114113" numCol="1" spcCol="1270" anchor="ctr" anchorCtr="0">
              <a:noAutofit/>
            </a:bodyPr>
            <a:lstStyle/>
            <a:p>
              <a:pPr lvl="0" algn="ctr" defTabSz="711200">
                <a:lnSpc>
                  <a:spcPct val="90000"/>
                </a:lnSpc>
                <a:spcBef>
                  <a:spcPct val="0"/>
                </a:spcBef>
                <a:spcAft>
                  <a:spcPct val="35000"/>
                </a:spcAft>
              </a:pPr>
              <a:r>
                <a:rPr lang="en-US" sz="1600" b="1" kern="1200" dirty="0" smtClean="0"/>
                <a:t>1. App</a:t>
              </a:r>
              <a:endParaRPr lang="en-US" sz="1400" b="1" kern="1200" dirty="0"/>
            </a:p>
          </p:txBody>
        </p:sp>
        <p:sp>
          <p:nvSpPr>
            <p:cNvPr id="16" name="Freeform 15"/>
            <p:cNvSpPr/>
            <p:nvPr/>
          </p:nvSpPr>
          <p:spPr>
            <a:xfrm>
              <a:off x="6640900" y="3646673"/>
              <a:ext cx="1203058" cy="958219"/>
            </a:xfrm>
            <a:custGeom>
              <a:avLst/>
              <a:gdLst>
                <a:gd name="connsiteX0" fmla="*/ 0 w 958219"/>
                <a:gd name="connsiteY0" fmla="*/ 159706 h 958219"/>
                <a:gd name="connsiteX1" fmla="*/ 159706 w 958219"/>
                <a:gd name="connsiteY1" fmla="*/ 0 h 958219"/>
                <a:gd name="connsiteX2" fmla="*/ 798513 w 958219"/>
                <a:gd name="connsiteY2" fmla="*/ 0 h 958219"/>
                <a:gd name="connsiteX3" fmla="*/ 958219 w 958219"/>
                <a:gd name="connsiteY3" fmla="*/ 159706 h 958219"/>
                <a:gd name="connsiteX4" fmla="*/ 958219 w 958219"/>
                <a:gd name="connsiteY4" fmla="*/ 798513 h 958219"/>
                <a:gd name="connsiteX5" fmla="*/ 798513 w 958219"/>
                <a:gd name="connsiteY5" fmla="*/ 958219 h 958219"/>
                <a:gd name="connsiteX6" fmla="*/ 159706 w 958219"/>
                <a:gd name="connsiteY6" fmla="*/ 958219 h 958219"/>
                <a:gd name="connsiteX7" fmla="*/ 0 w 958219"/>
                <a:gd name="connsiteY7" fmla="*/ 798513 h 958219"/>
                <a:gd name="connsiteX8" fmla="*/ 0 w 958219"/>
                <a:gd name="connsiteY8" fmla="*/ 159706 h 9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8219" h="958219">
                  <a:moveTo>
                    <a:pt x="0" y="159706"/>
                  </a:moveTo>
                  <a:cubicBezTo>
                    <a:pt x="0" y="71503"/>
                    <a:pt x="71503" y="0"/>
                    <a:pt x="159706" y="0"/>
                  </a:cubicBezTo>
                  <a:lnTo>
                    <a:pt x="798513" y="0"/>
                  </a:lnTo>
                  <a:cubicBezTo>
                    <a:pt x="886716" y="0"/>
                    <a:pt x="958219" y="71503"/>
                    <a:pt x="958219" y="159706"/>
                  </a:cubicBezTo>
                  <a:lnTo>
                    <a:pt x="958219" y="798513"/>
                  </a:lnTo>
                  <a:cubicBezTo>
                    <a:pt x="958219" y="886716"/>
                    <a:pt x="886716" y="958219"/>
                    <a:pt x="798513" y="958219"/>
                  </a:cubicBezTo>
                  <a:lnTo>
                    <a:pt x="159706" y="958219"/>
                  </a:lnTo>
                  <a:cubicBezTo>
                    <a:pt x="71503" y="958219"/>
                    <a:pt x="0" y="886716"/>
                    <a:pt x="0" y="798513"/>
                  </a:cubicBezTo>
                  <a:lnTo>
                    <a:pt x="0" y="159706"/>
                  </a:lnTo>
                  <a:close/>
                </a:path>
              </a:pathLst>
            </a:custGeom>
          </p:spPr>
          <p:style>
            <a:lnRef idx="2">
              <a:schemeClr val="accent2"/>
            </a:lnRef>
            <a:fillRef idx="1">
              <a:schemeClr val="lt1"/>
            </a:fillRef>
            <a:effectRef idx="0">
              <a:schemeClr val="accent2"/>
            </a:effectRef>
            <a:fontRef idx="minor">
              <a:schemeClr val="dk1"/>
            </a:fontRef>
          </p:style>
          <p:txBody>
            <a:bodyPr spcFirstLastPara="0" vert="horz" wrap="square" lIns="84876" tIns="84876" rIns="84876" bIns="84876" numCol="1" spcCol="1270" anchor="ctr" anchorCtr="0">
              <a:noAutofit/>
            </a:bodyPr>
            <a:lstStyle/>
            <a:p>
              <a:pPr lvl="0" algn="ctr" defTabSz="666750">
                <a:lnSpc>
                  <a:spcPct val="90000"/>
                </a:lnSpc>
                <a:spcBef>
                  <a:spcPct val="0"/>
                </a:spcBef>
                <a:spcAft>
                  <a:spcPct val="35000"/>
                </a:spcAft>
              </a:pPr>
              <a:r>
                <a:rPr lang="en-US" sz="1500" b="1" kern="1200" dirty="0" smtClean="0"/>
                <a:t>Autodesk</a:t>
              </a:r>
              <a:endParaRPr lang="en-US" sz="1500" b="1" kern="1200" dirty="0"/>
            </a:p>
          </p:txBody>
        </p:sp>
        <p:sp>
          <p:nvSpPr>
            <p:cNvPr id="18" name="Freeform 17"/>
            <p:cNvSpPr/>
            <p:nvPr/>
          </p:nvSpPr>
          <p:spPr>
            <a:xfrm>
              <a:off x="1886735" y="3594982"/>
              <a:ext cx="1128276" cy="958219"/>
            </a:xfrm>
            <a:custGeom>
              <a:avLst/>
              <a:gdLst>
                <a:gd name="connsiteX0" fmla="*/ 0 w 958219"/>
                <a:gd name="connsiteY0" fmla="*/ 159706 h 958219"/>
                <a:gd name="connsiteX1" fmla="*/ 159706 w 958219"/>
                <a:gd name="connsiteY1" fmla="*/ 0 h 958219"/>
                <a:gd name="connsiteX2" fmla="*/ 798513 w 958219"/>
                <a:gd name="connsiteY2" fmla="*/ 0 h 958219"/>
                <a:gd name="connsiteX3" fmla="*/ 958219 w 958219"/>
                <a:gd name="connsiteY3" fmla="*/ 159706 h 958219"/>
                <a:gd name="connsiteX4" fmla="*/ 958219 w 958219"/>
                <a:gd name="connsiteY4" fmla="*/ 798513 h 958219"/>
                <a:gd name="connsiteX5" fmla="*/ 798513 w 958219"/>
                <a:gd name="connsiteY5" fmla="*/ 958219 h 958219"/>
                <a:gd name="connsiteX6" fmla="*/ 159706 w 958219"/>
                <a:gd name="connsiteY6" fmla="*/ 958219 h 958219"/>
                <a:gd name="connsiteX7" fmla="*/ 0 w 958219"/>
                <a:gd name="connsiteY7" fmla="*/ 798513 h 958219"/>
                <a:gd name="connsiteX8" fmla="*/ 0 w 958219"/>
                <a:gd name="connsiteY8" fmla="*/ 159706 h 9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8219" h="958219">
                  <a:moveTo>
                    <a:pt x="0" y="159706"/>
                  </a:moveTo>
                  <a:cubicBezTo>
                    <a:pt x="0" y="71503"/>
                    <a:pt x="71503" y="0"/>
                    <a:pt x="159706" y="0"/>
                  </a:cubicBezTo>
                  <a:lnTo>
                    <a:pt x="798513" y="0"/>
                  </a:lnTo>
                  <a:cubicBezTo>
                    <a:pt x="886716" y="0"/>
                    <a:pt x="958219" y="71503"/>
                    <a:pt x="958219" y="159706"/>
                  </a:cubicBezTo>
                  <a:lnTo>
                    <a:pt x="958219" y="798513"/>
                  </a:lnTo>
                  <a:cubicBezTo>
                    <a:pt x="958219" y="886716"/>
                    <a:pt x="886716" y="958219"/>
                    <a:pt x="798513" y="958219"/>
                  </a:cubicBezTo>
                  <a:lnTo>
                    <a:pt x="159706" y="958219"/>
                  </a:lnTo>
                  <a:cubicBezTo>
                    <a:pt x="71503" y="958219"/>
                    <a:pt x="0" y="886716"/>
                    <a:pt x="0" y="798513"/>
                  </a:cubicBezTo>
                  <a:lnTo>
                    <a:pt x="0" y="159706"/>
                  </a:lnTo>
                  <a:close/>
                </a:path>
              </a:pathLst>
            </a:custGeom>
          </p:spPr>
          <p:style>
            <a:lnRef idx="2">
              <a:schemeClr val="accent4"/>
            </a:lnRef>
            <a:fillRef idx="1">
              <a:schemeClr val="lt1"/>
            </a:fillRef>
            <a:effectRef idx="0">
              <a:schemeClr val="accent4"/>
            </a:effectRef>
            <a:fontRef idx="minor">
              <a:schemeClr val="dk1"/>
            </a:fontRef>
          </p:style>
          <p:txBody>
            <a:bodyPr spcFirstLastPara="0" vert="horz" wrap="square" lIns="79796" tIns="79796" rIns="79796" bIns="79796" numCol="1" spcCol="1270" anchor="ctr" anchorCtr="0">
              <a:noAutofit/>
            </a:bodyPr>
            <a:lstStyle/>
            <a:p>
              <a:pPr lvl="0" algn="ctr" defTabSz="577850">
                <a:lnSpc>
                  <a:spcPct val="90000"/>
                </a:lnSpc>
                <a:spcBef>
                  <a:spcPct val="0"/>
                </a:spcBef>
                <a:spcAft>
                  <a:spcPct val="35000"/>
                </a:spcAft>
              </a:pPr>
              <a:r>
                <a:rPr lang="en-US" sz="1200" b="1" kern="1200" dirty="0" smtClean="0"/>
                <a:t>Publisher (developer)</a:t>
              </a:r>
              <a:endParaRPr lang="en-US" sz="1200" b="1" kern="1200" dirty="0"/>
            </a:p>
          </p:txBody>
        </p:sp>
      </p:grpSp>
      <p:sp>
        <p:nvSpPr>
          <p:cNvPr id="10" name="Rounded Rectangle 9"/>
          <p:cNvSpPr/>
          <p:nvPr/>
        </p:nvSpPr>
        <p:spPr>
          <a:xfrm>
            <a:off x="2586780" y="2369438"/>
            <a:ext cx="2031884" cy="3314314"/>
          </a:xfrm>
          <a:prstGeom prst="roundRect">
            <a:avLst/>
          </a:prstGeom>
          <a:noFill/>
          <a:ln w="28575">
            <a:solidFill>
              <a:schemeClr val="accent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Cross 18"/>
          <p:cNvSpPr/>
          <p:nvPr/>
        </p:nvSpPr>
        <p:spPr>
          <a:xfrm>
            <a:off x="3447002" y="3896667"/>
            <a:ext cx="380851" cy="380851"/>
          </a:xfrm>
          <a:prstGeom prst="plus">
            <a:avLst>
              <a:gd name="adj" fmla="val 39444"/>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Right Arrow 20"/>
          <p:cNvSpPr/>
          <p:nvPr/>
        </p:nvSpPr>
        <p:spPr>
          <a:xfrm>
            <a:off x="4281766" y="3956211"/>
            <a:ext cx="955364" cy="255483"/>
          </a:xfrm>
          <a:prstGeom prst="rightArrow">
            <a:avLst>
              <a:gd name="adj1" fmla="val 37037"/>
              <a:gd name="adj2" fmla="val 50000"/>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Circular Arrow 22"/>
          <p:cNvSpPr/>
          <p:nvPr/>
        </p:nvSpPr>
        <p:spPr>
          <a:xfrm rot="7327507">
            <a:off x="1358457" y="1928527"/>
            <a:ext cx="4424655" cy="4424655"/>
          </a:xfrm>
          <a:prstGeom prst="circularArrow">
            <a:avLst>
              <a:gd name="adj1" fmla="val 2884"/>
              <a:gd name="adj2" fmla="val 343712"/>
              <a:gd name="adj3" fmla="val 561795"/>
              <a:gd name="adj4" fmla="val 16654738"/>
              <a:gd name="adj5" fmla="val 3783"/>
            </a:avLst>
          </a:prstGeom>
          <a:solidFill>
            <a:schemeClr val="accent3">
              <a:lumMod val="40000"/>
              <a:lumOff val="60000"/>
            </a:schemeClr>
          </a:solidFill>
          <a:ln w="19050">
            <a:solidFill>
              <a:schemeClr val="accent3"/>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5" name="Circular Arrow 24"/>
          <p:cNvSpPr/>
          <p:nvPr/>
        </p:nvSpPr>
        <p:spPr>
          <a:xfrm rot="18215866">
            <a:off x="1390394" y="1850581"/>
            <a:ext cx="4424655" cy="4424655"/>
          </a:xfrm>
          <a:prstGeom prst="circularArrow">
            <a:avLst>
              <a:gd name="adj1" fmla="val 2884"/>
              <a:gd name="adj2" fmla="val 343712"/>
              <a:gd name="adj3" fmla="val 561795"/>
              <a:gd name="adj4" fmla="val 16711679"/>
              <a:gd name="adj5" fmla="val 3783"/>
            </a:avLst>
          </a:prstGeom>
          <a:solidFill>
            <a:schemeClr val="accent3">
              <a:lumMod val="40000"/>
              <a:lumOff val="60000"/>
            </a:schemeClr>
          </a:solidFill>
          <a:ln w="19050">
            <a:solidFill>
              <a:schemeClr val="accent3"/>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2" name="Bent Arrow 21"/>
          <p:cNvSpPr/>
          <p:nvPr/>
        </p:nvSpPr>
        <p:spPr>
          <a:xfrm rot="5400000" flipH="1">
            <a:off x="6852501" y="3271935"/>
            <a:ext cx="941878" cy="868680"/>
          </a:xfrm>
          <a:prstGeom prst="bentArrow">
            <a:avLst>
              <a:gd name="adj1" fmla="val 12516"/>
              <a:gd name="adj2" fmla="val 15013"/>
              <a:gd name="adj3" fmla="val 25000"/>
              <a:gd name="adj4" fmla="val 43750"/>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cxnSp>
        <p:nvCxnSpPr>
          <p:cNvPr id="28" name="Straight Connector 27"/>
          <p:cNvCxnSpPr/>
          <p:nvPr/>
        </p:nvCxnSpPr>
        <p:spPr>
          <a:xfrm>
            <a:off x="2229446" y="4059253"/>
            <a:ext cx="357334" cy="0"/>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sp>
        <p:nvSpPr>
          <p:cNvPr id="1025" name="TextBox 1024"/>
          <p:cNvSpPr txBox="1"/>
          <p:nvPr/>
        </p:nvSpPr>
        <p:spPr>
          <a:xfrm>
            <a:off x="3231533" y="3379662"/>
            <a:ext cx="846707" cy="461665"/>
          </a:xfrm>
          <a:prstGeom prst="rect">
            <a:avLst/>
          </a:prstGeom>
          <a:noFill/>
        </p:spPr>
        <p:txBody>
          <a:bodyPr wrap="none" rtlCol="0">
            <a:spAutoFit/>
          </a:bodyPr>
          <a:lstStyle/>
          <a:p>
            <a:pPr algn="ctr"/>
            <a:r>
              <a:rPr lang="en-US" sz="1200" dirty="0" smtClean="0"/>
              <a:t>.bundle </a:t>
            </a:r>
            <a:br>
              <a:rPr lang="en-US" sz="1200" dirty="0" smtClean="0"/>
            </a:br>
            <a:r>
              <a:rPr lang="en-US" sz="1200" dirty="0" smtClean="0"/>
              <a:t>Guidelines</a:t>
            </a:r>
            <a:endParaRPr lang="en-US" sz="1200" dirty="0"/>
          </a:p>
        </p:txBody>
      </p:sp>
      <p:sp>
        <p:nvSpPr>
          <p:cNvPr id="1027" name="TextBox 1026"/>
          <p:cNvSpPr txBox="1"/>
          <p:nvPr/>
        </p:nvSpPr>
        <p:spPr>
          <a:xfrm>
            <a:off x="3111253" y="5143104"/>
            <a:ext cx="1212191" cy="461665"/>
          </a:xfrm>
          <a:prstGeom prst="rect">
            <a:avLst/>
          </a:prstGeom>
          <a:noFill/>
        </p:spPr>
        <p:txBody>
          <a:bodyPr wrap="none" rtlCol="0">
            <a:spAutoFit/>
          </a:bodyPr>
          <a:lstStyle/>
          <a:p>
            <a:r>
              <a:rPr lang="en-US" sz="1200" dirty="0" smtClean="0"/>
              <a:t>Icons, help files,</a:t>
            </a:r>
          </a:p>
          <a:p>
            <a:r>
              <a:rPr lang="en-US" sz="1200" dirty="0" smtClean="0"/>
              <a:t> contact, etc.</a:t>
            </a:r>
            <a:endParaRPr lang="en-US" sz="1200" dirty="0"/>
          </a:p>
        </p:txBody>
      </p:sp>
      <p:sp>
        <p:nvSpPr>
          <p:cNvPr id="1028" name="TextBox 1027"/>
          <p:cNvSpPr txBox="1"/>
          <p:nvPr/>
        </p:nvSpPr>
        <p:spPr>
          <a:xfrm>
            <a:off x="6728326" y="2915648"/>
            <a:ext cx="2014398" cy="307777"/>
          </a:xfrm>
          <a:prstGeom prst="rect">
            <a:avLst/>
          </a:prstGeom>
          <a:noFill/>
        </p:spPr>
        <p:txBody>
          <a:bodyPr wrap="none" rtlCol="0">
            <a:spAutoFit/>
          </a:bodyPr>
          <a:lstStyle/>
          <a:p>
            <a:r>
              <a:rPr lang="en-US" sz="1400" b="1" dirty="0" smtClean="0"/>
              <a:t>7. Go live on the store</a:t>
            </a:r>
            <a:endParaRPr lang="en-US" sz="1400" b="1" dirty="0"/>
          </a:p>
        </p:txBody>
      </p:sp>
      <p:sp>
        <p:nvSpPr>
          <p:cNvPr id="38" name="TextBox 37"/>
          <p:cNvSpPr txBox="1"/>
          <p:nvPr/>
        </p:nvSpPr>
        <p:spPr>
          <a:xfrm>
            <a:off x="4320323" y="3432991"/>
            <a:ext cx="1309974" cy="523220"/>
          </a:xfrm>
          <a:prstGeom prst="rect">
            <a:avLst/>
          </a:prstGeom>
          <a:noFill/>
        </p:spPr>
        <p:txBody>
          <a:bodyPr wrap="none" rtlCol="0">
            <a:spAutoFit/>
          </a:bodyPr>
          <a:lstStyle/>
          <a:p>
            <a:r>
              <a:rPr lang="en-US" sz="1400" b="1" dirty="0" smtClean="0"/>
              <a:t>3. Initial</a:t>
            </a:r>
            <a:br>
              <a:rPr lang="en-US" sz="1400" b="1" dirty="0" smtClean="0"/>
            </a:br>
            <a:r>
              <a:rPr lang="en-US" sz="1400" b="1" dirty="0" smtClean="0"/>
              <a:t>    submission</a:t>
            </a:r>
            <a:endParaRPr lang="en-US" sz="1400" b="1" dirty="0"/>
          </a:p>
        </p:txBody>
      </p:sp>
      <p:sp>
        <p:nvSpPr>
          <p:cNvPr id="39" name="TextBox 38"/>
          <p:cNvSpPr txBox="1"/>
          <p:nvPr/>
        </p:nvSpPr>
        <p:spPr>
          <a:xfrm>
            <a:off x="5283180" y="4670680"/>
            <a:ext cx="1875770" cy="307777"/>
          </a:xfrm>
          <a:prstGeom prst="rect">
            <a:avLst/>
          </a:prstGeom>
          <a:noFill/>
        </p:spPr>
        <p:txBody>
          <a:bodyPr wrap="none" rtlCol="0">
            <a:spAutoFit/>
          </a:bodyPr>
          <a:lstStyle/>
          <a:p>
            <a:r>
              <a:rPr lang="en-US" sz="1400" b="1" dirty="0" smtClean="0"/>
              <a:t>4. Packaging/testing</a:t>
            </a:r>
            <a:endParaRPr lang="en-US" sz="1400" b="1" dirty="0"/>
          </a:p>
        </p:txBody>
      </p:sp>
      <p:sp>
        <p:nvSpPr>
          <p:cNvPr id="40" name="TextBox 39"/>
          <p:cNvSpPr txBox="1"/>
          <p:nvPr/>
        </p:nvSpPr>
        <p:spPr>
          <a:xfrm>
            <a:off x="4551761" y="5926482"/>
            <a:ext cx="2393797" cy="523220"/>
          </a:xfrm>
          <a:prstGeom prst="rect">
            <a:avLst/>
          </a:prstGeom>
          <a:noFill/>
        </p:spPr>
        <p:txBody>
          <a:bodyPr wrap="none" rtlCol="0">
            <a:spAutoFit/>
          </a:bodyPr>
          <a:lstStyle/>
          <a:p>
            <a:r>
              <a:rPr lang="en-US" sz="1400" b="1" dirty="0" smtClean="0"/>
              <a:t>5. Send updated bundle or</a:t>
            </a:r>
            <a:br>
              <a:rPr lang="en-US" sz="1400" b="1" dirty="0" smtClean="0"/>
            </a:br>
            <a:r>
              <a:rPr lang="en-US" sz="1400" b="1" dirty="0" smtClean="0"/>
              <a:t>    </a:t>
            </a:r>
            <a:r>
              <a:rPr lang="en-US" sz="1400" b="1" dirty="0" err="1" smtClean="0"/>
              <a:t>msi</a:t>
            </a:r>
            <a:r>
              <a:rPr lang="en-US" sz="1400" b="1" dirty="0" smtClean="0"/>
              <a:t> for testing </a:t>
            </a:r>
            <a:endParaRPr lang="en-US" sz="1400" b="1" dirty="0"/>
          </a:p>
        </p:txBody>
      </p:sp>
      <p:sp>
        <p:nvSpPr>
          <p:cNvPr id="41" name="TextBox 40"/>
          <p:cNvSpPr txBox="1"/>
          <p:nvPr/>
        </p:nvSpPr>
        <p:spPr>
          <a:xfrm>
            <a:off x="2258200" y="1417639"/>
            <a:ext cx="3402085" cy="523220"/>
          </a:xfrm>
          <a:prstGeom prst="rect">
            <a:avLst/>
          </a:prstGeom>
          <a:noFill/>
        </p:spPr>
        <p:txBody>
          <a:bodyPr wrap="none" rtlCol="0">
            <a:spAutoFit/>
          </a:bodyPr>
          <a:lstStyle/>
          <a:p>
            <a:r>
              <a:rPr lang="en-US" sz="1400" b="1" dirty="0"/>
              <a:t>6</a:t>
            </a:r>
            <a:r>
              <a:rPr lang="en-US" sz="1400" b="1" dirty="0" smtClean="0"/>
              <a:t>. Update bundle or </a:t>
            </a:r>
            <a:br>
              <a:rPr lang="en-US" sz="1400" b="1" dirty="0" smtClean="0"/>
            </a:br>
            <a:r>
              <a:rPr lang="en-US" sz="1400" b="1" dirty="0" smtClean="0"/>
              <a:t>    upload the </a:t>
            </a:r>
            <a:r>
              <a:rPr lang="en-US" sz="1400" b="1" dirty="0" err="1" smtClean="0"/>
              <a:t>msi</a:t>
            </a:r>
            <a:r>
              <a:rPr lang="en-US" sz="1400" b="1" dirty="0" smtClean="0"/>
              <a:t> for final publishing  </a:t>
            </a:r>
            <a:endParaRPr lang="en-US" sz="1400" b="1" dirty="0"/>
          </a:p>
        </p:txBody>
      </p:sp>
      <p:pic>
        <p:nvPicPr>
          <p:cNvPr id="46" name="Picture 4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5253" y="945921"/>
            <a:ext cx="2971485" cy="1951738"/>
          </a:xfrm>
          <a:prstGeom prst="rect">
            <a:avLst/>
          </a:prstGeom>
          <a:ln>
            <a:solidFill>
              <a:schemeClr val="accent3"/>
            </a:solidFill>
          </a:ln>
          <a:effectLst>
            <a:outerShdw blurRad="63500" sx="102000" sy="102000" algn="ctr" rotWithShape="0">
              <a:prstClr val="black">
                <a:alpha val="40000"/>
              </a:prstClr>
            </a:outerShdw>
          </a:effectLst>
        </p:spPr>
      </p:pic>
      <p:sp>
        <p:nvSpPr>
          <p:cNvPr id="24" name="Rounded Rectangle 23"/>
          <p:cNvSpPr/>
          <p:nvPr/>
        </p:nvSpPr>
        <p:spPr>
          <a:xfrm>
            <a:off x="4174683" y="3235336"/>
            <a:ext cx="1432816" cy="1356976"/>
          </a:xfrm>
          <a:prstGeom prst="roundRect">
            <a:avLst/>
          </a:prstGeom>
          <a:noFill/>
          <a:ln w="381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9158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heel(1)">
                                      <p:cBhvr>
                                        <p:cTn id="7" dur="2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Submission </a:t>
            </a:r>
            <a:r>
              <a:rPr lang="en-US" dirty="0" smtClean="0"/>
              <a:t>Process</a:t>
            </a:r>
            <a:endParaRPr lang="en-US" dirty="0"/>
          </a:p>
        </p:txBody>
      </p:sp>
      <p:sp>
        <p:nvSpPr>
          <p:cNvPr id="3" name="Content Placeholder 2"/>
          <p:cNvSpPr>
            <a:spLocks noGrp="1"/>
          </p:cNvSpPr>
          <p:nvPr>
            <p:ph idx="1"/>
          </p:nvPr>
        </p:nvSpPr>
        <p:spPr/>
        <p:txBody>
          <a:bodyPr/>
          <a:lstStyle/>
          <a:p>
            <a:pPr marL="431961" lvl="1" indent="-431961">
              <a:spcBef>
                <a:spcPts val="0"/>
              </a:spcBef>
            </a:pPr>
            <a:r>
              <a:rPr lang="en-US" sz="2400" dirty="0" smtClean="0"/>
              <a:t>Online process</a:t>
            </a:r>
            <a:br>
              <a:rPr lang="en-US" sz="2400" dirty="0" smtClean="0"/>
            </a:br>
            <a:r>
              <a:rPr lang="en-US" sz="2400" dirty="0">
                <a:hlinkClick r:id="rId3"/>
              </a:rPr>
              <a:t>http://</a:t>
            </a:r>
            <a:r>
              <a:rPr lang="en-US" sz="2400" dirty="0" smtClean="0">
                <a:hlinkClick r:id="rId3"/>
              </a:rPr>
              <a:t>apps.exchange.autodesk.com/RVT/en/Home</a:t>
            </a:r>
            <a:endParaRPr lang="en-US" sz="2400" dirty="0" smtClean="0"/>
          </a:p>
          <a:p>
            <a:pPr marL="431961" lvl="1" indent="-431961">
              <a:spcBef>
                <a:spcPts val="0"/>
              </a:spcBef>
            </a:pPr>
            <a:endParaRPr lang="en-US" sz="2400" dirty="0"/>
          </a:p>
          <a:p>
            <a:pPr marL="431961" lvl="1" indent="-431961">
              <a:spcBef>
                <a:spcPts val="0"/>
              </a:spcBef>
            </a:pPr>
            <a:r>
              <a:rPr lang="en-US" sz="2400" dirty="0" smtClean="0"/>
              <a:t>App </a:t>
            </a:r>
            <a:r>
              <a:rPr lang="en-US" sz="2400" dirty="0"/>
              <a:t>Submission Process Overview</a:t>
            </a:r>
            <a:br>
              <a:rPr lang="en-US" sz="2400" dirty="0"/>
            </a:br>
            <a:r>
              <a:rPr lang="en-US" sz="2000" dirty="0">
                <a:hlinkClick r:id="rId4"/>
              </a:rPr>
              <a:t>http://usa.autodesk.com/adsk/servlet/item?siteID=123112&amp;id=20149658</a:t>
            </a:r>
            <a:endParaRPr lang="en-US" sz="2000" dirty="0"/>
          </a:p>
          <a:p>
            <a:endParaRPr lang="en-US" sz="2400" dirty="0" smtClean="0"/>
          </a:p>
        </p:txBody>
      </p:sp>
      <p:grpSp>
        <p:nvGrpSpPr>
          <p:cNvPr id="12" name="Group 11"/>
          <p:cNvGrpSpPr/>
          <p:nvPr/>
        </p:nvGrpSpPr>
        <p:grpSpPr>
          <a:xfrm>
            <a:off x="2469470" y="3564235"/>
            <a:ext cx="4040187" cy="2653686"/>
            <a:chOff x="4646613" y="699115"/>
            <a:chExt cx="4040187" cy="2653686"/>
          </a:xfrm>
        </p:grpSpPr>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46613" y="699115"/>
              <a:ext cx="4040187" cy="2653686"/>
            </a:xfrm>
            <a:prstGeom prst="rect">
              <a:avLst/>
            </a:prstGeom>
          </p:spPr>
        </p:pic>
        <p:sp>
          <p:nvSpPr>
            <p:cNvPr id="6" name="Rectangle 5"/>
            <p:cNvSpPr/>
            <p:nvPr/>
          </p:nvSpPr>
          <p:spPr>
            <a:xfrm>
              <a:off x="7685314" y="2934255"/>
              <a:ext cx="914400" cy="331460"/>
            </a:xfrm>
            <a:prstGeom prst="rect">
              <a:avLst/>
            </a:pr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7" name="Straight Connector 6"/>
            <p:cNvCxnSpPr/>
            <p:nvPr/>
          </p:nvCxnSpPr>
          <p:spPr>
            <a:xfrm>
              <a:off x="7879932" y="2095944"/>
              <a:ext cx="719782" cy="838311"/>
            </a:xfrm>
            <a:prstGeom prst="line">
              <a:avLst/>
            </a:prstGeom>
          </p:spPr>
          <p:style>
            <a:lnRef idx="2">
              <a:schemeClr val="accent1"/>
            </a:lnRef>
            <a:fillRef idx="0">
              <a:schemeClr val="accent1"/>
            </a:fillRef>
            <a:effectRef idx="1">
              <a:schemeClr val="accent1"/>
            </a:effectRef>
            <a:fontRef idx="minor">
              <a:schemeClr val="tx1"/>
            </a:fontRef>
          </p:style>
        </p:cxnSp>
        <p:pic>
          <p:nvPicPr>
            <p:cNvPr id="8" name="Picture 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36508" y="2095944"/>
              <a:ext cx="2143424" cy="790685"/>
            </a:xfrm>
            <a:prstGeom prst="rect">
              <a:avLst/>
            </a:prstGeom>
            <a:ln w="22225" cmpd="sng">
              <a:solidFill>
                <a:srgbClr val="FFC000"/>
              </a:solidFill>
            </a:ln>
            <a:effectLst>
              <a:outerShdw blurRad="63500" dist="152400" dir="3600000" sx="102000" sy="102000" algn="ctr" rotWithShape="0">
                <a:prstClr val="black">
                  <a:alpha val="40000"/>
                </a:prstClr>
              </a:outerShdw>
            </a:effectLst>
          </p:spPr>
        </p:pic>
        <p:cxnSp>
          <p:nvCxnSpPr>
            <p:cNvPr id="9" name="Straight Connector 8"/>
            <p:cNvCxnSpPr/>
            <p:nvPr/>
          </p:nvCxnSpPr>
          <p:spPr>
            <a:xfrm>
              <a:off x="5736508" y="2886629"/>
              <a:ext cx="1948806" cy="379085"/>
            </a:xfrm>
            <a:prstGeom prst="line">
              <a:avLst/>
            </a:prstGeom>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9075773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Submission </a:t>
            </a:r>
            <a:r>
              <a:rPr lang="en-US" dirty="0" smtClean="0"/>
              <a:t>Process Demo </a:t>
            </a:r>
            <a:endParaRPr lang="en-US" dirty="0"/>
          </a:p>
        </p:txBody>
      </p:sp>
      <p:pic>
        <p:nvPicPr>
          <p:cNvPr id="16" name="Content Placeholder 1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94927" y="1508125"/>
            <a:ext cx="5511284" cy="4710113"/>
          </a:xfrm>
          <a:ln>
            <a:solidFill>
              <a:schemeClr val="accent4"/>
            </a:solidFill>
          </a:ln>
        </p:spPr>
      </p:pic>
    </p:spTree>
    <p:extLst>
      <p:ext uri="{BB962C8B-B14F-4D97-AF65-F5344CB8AC3E}">
        <p14:creationId xmlns:p14="http://schemas.microsoft.com/office/powerpoint/2010/main" val="1884316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086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utodesk Theme">
  <a:themeElements>
    <a:clrScheme name="Autodesk colors">
      <a:dk1>
        <a:srgbClr val="000000"/>
      </a:dk1>
      <a:lt1>
        <a:srgbClr val="FFFFFF"/>
      </a:lt1>
      <a:dk2>
        <a:srgbClr val="000000"/>
      </a:dk2>
      <a:lt2>
        <a:srgbClr val="FFFFFF"/>
      </a:lt2>
      <a:accent1>
        <a:srgbClr val="FFCC00"/>
      </a:accent1>
      <a:accent2>
        <a:srgbClr val="87BC40"/>
      </a:accent2>
      <a:accent3>
        <a:srgbClr val="32BCAD"/>
      </a:accent3>
      <a:accent4>
        <a:srgbClr val="0696D7"/>
      </a:accent4>
      <a:accent5>
        <a:srgbClr val="007272"/>
      </a:accent5>
      <a:accent6>
        <a:srgbClr val="1858A8"/>
      </a:accent6>
      <a:hlink>
        <a:srgbClr val="007272"/>
      </a:hlink>
      <a:folHlink>
        <a:srgbClr val="007272"/>
      </a:folHlink>
    </a:clrScheme>
    <a:fontScheme name="Custom 1">
      <a:majorFont>
        <a:latin typeface="Frutiger Next LT W1G"/>
        <a:ea typeface=""/>
        <a:cs typeface=""/>
      </a:majorFont>
      <a:minorFont>
        <a:latin typeface="Frutiger Next LT W1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B67D18A920FC34E89379B9056E5C96B" ma:contentTypeVersion="14" ma:contentTypeDescription="Create a new document." ma:contentTypeScope="" ma:versionID="be707e33ddd7bcc8bacbc23335b141d0">
  <xsd:schema xmlns:xsd="http://www.w3.org/2001/XMLSchema" xmlns:xs="http://www.w3.org/2001/XMLSchema" xmlns:p="http://schemas.microsoft.com/office/2006/metadata/properties" xmlns:ns2="53f21e63-0826-477d-b1b7-3db21182227b" xmlns:ns3="c7e0f0b7-7208-4c92-93d6-598a3e945dff" targetNamespace="http://schemas.microsoft.com/office/2006/metadata/properties" ma:root="true" ma:fieldsID="b504e9fee24a4a4ff760916c7e032d52" ns2:_="" ns3:_="">
    <xsd:import namespace="53f21e63-0826-477d-b1b7-3db21182227b"/>
    <xsd:import namespace="c7e0f0b7-7208-4c92-93d6-598a3e945df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f21e63-0826-477d-b1b7-3db2118222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Location" ma:index="14" nillable="true" ma:displayName="Location" ma:indexed="true" ma:internalName="MediaServiceLocatio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f3486984-7067-43be-b043-3c90f94ef9b2"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e0f0b7-7208-4c92-93d6-598a3e945dff"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8ee30ba-fb0b-4ac6-930f-2974a256cfa8}" ma:internalName="TaxCatchAll" ma:showField="CatchAllData" ma:web="c7e0f0b7-7208-4c92-93d6-598a3e945df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3f21e63-0826-477d-b1b7-3db21182227b">
      <Terms xmlns="http://schemas.microsoft.com/office/infopath/2007/PartnerControls"/>
    </lcf76f155ced4ddcb4097134ff3c332f>
    <TaxCatchAll xmlns="c7e0f0b7-7208-4c92-93d6-598a3e945dff" xsi:nil="true"/>
  </documentManagement>
</p:properties>
</file>

<file path=customXml/itemProps1.xml><?xml version="1.0" encoding="utf-8"?>
<ds:datastoreItem xmlns:ds="http://schemas.openxmlformats.org/officeDocument/2006/customXml" ds:itemID="{BDAA6A33-774C-4A60-8DBD-74E3DF23F27F}"/>
</file>

<file path=customXml/itemProps2.xml><?xml version="1.0" encoding="utf-8"?>
<ds:datastoreItem xmlns:ds="http://schemas.openxmlformats.org/officeDocument/2006/customXml" ds:itemID="{0B2C5E23-CEC9-42D1-ADE2-556D1EDC417F}"/>
</file>

<file path=customXml/itemProps3.xml><?xml version="1.0" encoding="utf-8"?>
<ds:datastoreItem xmlns:ds="http://schemas.openxmlformats.org/officeDocument/2006/customXml" ds:itemID="{8C2F9062-1A36-40AA-86DD-728C618F427E}"/>
</file>

<file path=docProps/app.xml><?xml version="1.0" encoding="utf-8"?>
<Properties xmlns="http://schemas.openxmlformats.org/officeDocument/2006/extended-properties" xmlns:vt="http://schemas.openxmlformats.org/officeDocument/2006/docPropsVTypes">
  <Template>ADSK_COV_Q2FY14 4x3</Template>
  <TotalTime>10422</TotalTime>
  <Words>198</Words>
  <Application>Microsoft Office PowerPoint</Application>
  <PresentationFormat>Letter Paper (8.5x11 in)</PresentationFormat>
  <Paragraphs>32</Paragraphs>
  <Slides>5</Slides>
  <Notes>5</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Autodesk Theme</vt:lpstr>
      <vt:lpstr>PowerPoint Presentation</vt:lpstr>
      <vt:lpstr>Publishing Workflow Overview </vt:lpstr>
      <vt:lpstr>Submission Process</vt:lpstr>
      <vt:lpstr>Submission Process Demo </vt:lpstr>
      <vt:lpstr>PowerPoint Presentation</vt:lpstr>
    </vt:vector>
  </TitlesOfParts>
  <Company>Autodesk</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Pasquale Volpintesta</dc:creator>
  <cp:lastModifiedBy>Mikako Harada</cp:lastModifiedBy>
  <cp:revision>629</cp:revision>
  <cp:lastPrinted>2013-07-31T17:22:49Z</cp:lastPrinted>
  <dcterms:created xsi:type="dcterms:W3CDTF">2012-10-19T15:38:24Z</dcterms:created>
  <dcterms:modified xsi:type="dcterms:W3CDTF">2013-08-12T20:46:27Z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0x010100BB67D18A920FC34E89379B9056E5C96B</vt:lpwstr>
  </property>
</Properties>
</file>