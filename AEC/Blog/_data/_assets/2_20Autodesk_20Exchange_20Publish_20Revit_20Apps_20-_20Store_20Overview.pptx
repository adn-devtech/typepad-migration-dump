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s/slide7.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slideMasters/slideMaster1.xml" ContentType="application/vnd.openxmlformats-officedocument.presentationml.slideMaster+xml"/>
  <Override PartName="/ppt/notesSlides/notesSlide7.xml" ContentType="application/vnd.openxmlformats-officedocument.presentationml.notesSlide+xml"/>
  <Override PartName="/ppt/notesSlides/notesSlide5.xml" ContentType="application/vnd.openxmlformats-officedocument.presentationml.notesSlide+xml"/>
  <Override PartName="/ppt/notesSlides/notesSlide2.xml" ContentType="application/vnd.openxmlformats-officedocument.presentationml.notesSlide+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slideLayouts/slideLayout6.xml" ContentType="application/vnd.openxmlformats-officedocument.presentationml.slideLayou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theme/theme3.xml" ContentType="application/vnd.openxmlformats-officedocument.theme+xml"/>
  <Override PartName="/ppt/theme/theme2.xml" ContentType="application/vnd.openxmlformats-officedocument.theme+xml"/>
  <Override PartName="/ppt/theme/theme1.xml" ContentType="application/vnd.openxmlformats-officedocument.theme+xml"/>
  <Override PartName="/ppt/tableStyles.xml" ContentType="application/vnd.openxmlformats-officedocument.presentationml.tableStyles+xml"/>
  <Override PartName="/ppt/viewProps.xml" ContentType="application/vnd.openxmlformats-officedocument.presentationml.viewProps+xml"/>
  <Override PartName="/ppt/presProps.xml" ContentType="application/vnd.openxmlformats-officedocument.presentationml.presProp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7" r:id="rId1"/>
  </p:sldMasterIdLst>
  <p:notesMasterIdLst>
    <p:notesMasterId r:id="rId9"/>
  </p:notesMasterIdLst>
  <p:handoutMasterIdLst>
    <p:handoutMasterId r:id="rId10"/>
  </p:handoutMasterIdLst>
  <p:sldIdLst>
    <p:sldId id="330" r:id="rId2"/>
    <p:sldId id="298" r:id="rId3"/>
    <p:sldId id="299" r:id="rId4"/>
    <p:sldId id="300" r:id="rId5"/>
    <p:sldId id="282" r:id="rId6"/>
    <p:sldId id="302" r:id="rId7"/>
    <p:sldId id="325" r:id="rId8"/>
  </p:sldIdLst>
  <p:sldSz cx="9144000" cy="6858000" type="letter"/>
  <p:notesSz cx="7010400" cy="9296400"/>
  <p:defaultTextStyle>
    <a:defPPr>
      <a:defRPr lang="en-US"/>
    </a:defPPr>
    <a:lvl1pPr marL="0" algn="l" defTabSz="571211" rtl="0" eaLnBrk="1" latinLnBrk="0" hangingPunct="1">
      <a:defRPr sz="2200" kern="1200">
        <a:solidFill>
          <a:schemeClr val="tx1"/>
        </a:solidFill>
        <a:latin typeface="+mn-lt"/>
        <a:ea typeface="+mn-ea"/>
        <a:cs typeface="+mn-cs"/>
      </a:defRPr>
    </a:lvl1pPr>
    <a:lvl2pPr marL="571211" algn="l" defTabSz="571211" rtl="0" eaLnBrk="1" latinLnBrk="0" hangingPunct="1">
      <a:defRPr sz="2200" kern="1200">
        <a:solidFill>
          <a:schemeClr val="tx1"/>
        </a:solidFill>
        <a:latin typeface="+mn-lt"/>
        <a:ea typeface="+mn-ea"/>
        <a:cs typeface="+mn-cs"/>
      </a:defRPr>
    </a:lvl2pPr>
    <a:lvl3pPr marL="1142422" algn="l" defTabSz="571211" rtl="0" eaLnBrk="1" latinLnBrk="0" hangingPunct="1">
      <a:defRPr sz="2200" kern="1200">
        <a:solidFill>
          <a:schemeClr val="tx1"/>
        </a:solidFill>
        <a:latin typeface="+mn-lt"/>
        <a:ea typeface="+mn-ea"/>
        <a:cs typeface="+mn-cs"/>
      </a:defRPr>
    </a:lvl3pPr>
    <a:lvl4pPr marL="1713633" algn="l" defTabSz="571211" rtl="0" eaLnBrk="1" latinLnBrk="0" hangingPunct="1">
      <a:defRPr sz="2200" kern="1200">
        <a:solidFill>
          <a:schemeClr val="tx1"/>
        </a:solidFill>
        <a:latin typeface="+mn-lt"/>
        <a:ea typeface="+mn-ea"/>
        <a:cs typeface="+mn-cs"/>
      </a:defRPr>
    </a:lvl4pPr>
    <a:lvl5pPr marL="2284844" algn="l" defTabSz="571211" rtl="0" eaLnBrk="1" latinLnBrk="0" hangingPunct="1">
      <a:defRPr sz="2200" kern="1200">
        <a:solidFill>
          <a:schemeClr val="tx1"/>
        </a:solidFill>
        <a:latin typeface="+mn-lt"/>
        <a:ea typeface="+mn-ea"/>
        <a:cs typeface="+mn-cs"/>
      </a:defRPr>
    </a:lvl5pPr>
    <a:lvl6pPr marL="2856055" algn="l" defTabSz="571211" rtl="0" eaLnBrk="1" latinLnBrk="0" hangingPunct="1">
      <a:defRPr sz="2200" kern="1200">
        <a:solidFill>
          <a:schemeClr val="tx1"/>
        </a:solidFill>
        <a:latin typeface="+mn-lt"/>
        <a:ea typeface="+mn-ea"/>
        <a:cs typeface="+mn-cs"/>
      </a:defRPr>
    </a:lvl6pPr>
    <a:lvl7pPr marL="3427265" algn="l" defTabSz="571211" rtl="0" eaLnBrk="1" latinLnBrk="0" hangingPunct="1">
      <a:defRPr sz="2200" kern="1200">
        <a:solidFill>
          <a:schemeClr val="tx1"/>
        </a:solidFill>
        <a:latin typeface="+mn-lt"/>
        <a:ea typeface="+mn-ea"/>
        <a:cs typeface="+mn-cs"/>
      </a:defRPr>
    </a:lvl7pPr>
    <a:lvl8pPr marL="3998477" algn="l" defTabSz="571211" rtl="0" eaLnBrk="1" latinLnBrk="0" hangingPunct="1">
      <a:defRPr sz="2200" kern="1200">
        <a:solidFill>
          <a:schemeClr val="tx1"/>
        </a:solidFill>
        <a:latin typeface="+mn-lt"/>
        <a:ea typeface="+mn-ea"/>
        <a:cs typeface="+mn-cs"/>
      </a:defRPr>
    </a:lvl8pPr>
    <a:lvl9pPr marL="4569687" algn="l" defTabSz="571211" rtl="0" eaLnBrk="1" latinLnBrk="0" hangingPunct="1">
      <a:defRPr sz="22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kako Harada" initials="MH"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B7D88C"/>
    <a:srgbClr val="FFFFCC"/>
    <a:srgbClr val="000000"/>
    <a:srgbClr val="FFF5CC"/>
    <a:srgbClr val="FFFF00"/>
    <a:srgbClr val="FFCC00"/>
    <a:srgbClr val="005E30"/>
    <a:srgbClr val="1858A8"/>
    <a:srgbClr val="FFFFFF"/>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9770" autoAdjust="0"/>
    <p:restoredTop sz="66468" autoAdjust="0"/>
  </p:normalViewPr>
  <p:slideViewPr>
    <p:cSldViewPr snapToGrid="0" snapToObjects="1">
      <p:cViewPr varScale="1">
        <p:scale>
          <a:sx n="73" d="100"/>
          <a:sy n="73" d="100"/>
        </p:scale>
        <p:origin x="-2640" y="-90"/>
      </p:cViewPr>
      <p:guideLst>
        <p:guide orient="horz" pos="407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18" Type="http://schemas.openxmlformats.org/officeDocument/2006/relationships/customXml" Target="../customXml/item3.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openxmlformats.org/officeDocument/2006/relationships/customXml" Target="../customXml/item2.xml"/><Relationship Id="rId2" Type="http://schemas.openxmlformats.org/officeDocument/2006/relationships/slide" Target="slides/slide1.xml"/><Relationship Id="rId16" Type="http://schemas.openxmlformats.org/officeDocument/2006/relationships/customXml" Target="../customXml/item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387C2776-B9DD-1946-9831-785CA23AC1F1}" type="datetime1">
              <a:rPr lang="en-US" smtClean="0"/>
              <a:t>8/12/2013</a:t>
            </a:fld>
            <a:endParaRPr lang="en-US" dirty="0"/>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58ECB827-1CCB-B349-98A7-AAC485CBB65F}" type="slidenum">
              <a:rPr lang="en-US" smtClean="0"/>
              <a:t>‹#›</a:t>
            </a:fld>
            <a:endParaRPr lang="en-US" dirty="0"/>
          </a:p>
        </p:txBody>
      </p:sp>
    </p:spTree>
    <p:extLst>
      <p:ext uri="{BB962C8B-B14F-4D97-AF65-F5344CB8AC3E}">
        <p14:creationId xmlns:p14="http://schemas.microsoft.com/office/powerpoint/2010/main" val="34355217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13A1C7DD-7A43-8947-A922-8561F0BA9BCC}" type="datetime1">
              <a:rPr lang="en-US" smtClean="0"/>
              <a:t>8/12/2013</a:t>
            </a:fld>
            <a:endParaRPr lang="en-US" dirty="0"/>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3E9330B-B1DA-214B-A229-0CB8492B91A5}" type="slidenum">
              <a:rPr lang="en-US" smtClean="0"/>
              <a:t>‹#›</a:t>
            </a:fld>
            <a:endParaRPr lang="en-US" dirty="0"/>
          </a:p>
        </p:txBody>
      </p:sp>
    </p:spTree>
    <p:extLst>
      <p:ext uri="{BB962C8B-B14F-4D97-AF65-F5344CB8AC3E}">
        <p14:creationId xmlns:p14="http://schemas.microsoft.com/office/powerpoint/2010/main" val="726771065"/>
      </p:ext>
    </p:extLst>
  </p:cSld>
  <p:clrMap bg1="lt1" tx1="dk1" bg2="lt2" tx2="dk2" accent1="accent1" accent2="accent2" accent3="accent3" accent4="accent4" accent5="accent5" accent6="accent6" hlink="hlink" folHlink="folHlink"/>
  <p:hf hdr="0" ftr="0" dt="0"/>
  <p:notesStyle>
    <a:lvl1pPr marL="0" algn="l" defTabSz="571211" rtl="0" eaLnBrk="1" latinLnBrk="0" hangingPunct="1">
      <a:defRPr sz="1500" kern="1200">
        <a:solidFill>
          <a:schemeClr val="tx1"/>
        </a:solidFill>
        <a:latin typeface="+mn-lt"/>
        <a:ea typeface="+mn-ea"/>
        <a:cs typeface="+mn-cs"/>
      </a:defRPr>
    </a:lvl1pPr>
    <a:lvl2pPr marL="571211" algn="l" defTabSz="571211" rtl="0" eaLnBrk="1" latinLnBrk="0" hangingPunct="1">
      <a:defRPr sz="1500" kern="1200">
        <a:solidFill>
          <a:schemeClr val="tx1"/>
        </a:solidFill>
        <a:latin typeface="+mn-lt"/>
        <a:ea typeface="+mn-ea"/>
        <a:cs typeface="+mn-cs"/>
      </a:defRPr>
    </a:lvl2pPr>
    <a:lvl3pPr marL="1142422" algn="l" defTabSz="571211" rtl="0" eaLnBrk="1" latinLnBrk="0" hangingPunct="1">
      <a:defRPr sz="1500" kern="1200">
        <a:solidFill>
          <a:schemeClr val="tx1"/>
        </a:solidFill>
        <a:latin typeface="+mn-lt"/>
        <a:ea typeface="+mn-ea"/>
        <a:cs typeface="+mn-cs"/>
      </a:defRPr>
    </a:lvl3pPr>
    <a:lvl4pPr marL="1713633" algn="l" defTabSz="571211" rtl="0" eaLnBrk="1" latinLnBrk="0" hangingPunct="1">
      <a:defRPr sz="1500" kern="1200">
        <a:solidFill>
          <a:schemeClr val="tx1"/>
        </a:solidFill>
        <a:latin typeface="+mn-lt"/>
        <a:ea typeface="+mn-ea"/>
        <a:cs typeface="+mn-cs"/>
      </a:defRPr>
    </a:lvl4pPr>
    <a:lvl5pPr marL="2284844" algn="l" defTabSz="571211" rtl="0" eaLnBrk="1" latinLnBrk="0" hangingPunct="1">
      <a:defRPr sz="1500" kern="1200">
        <a:solidFill>
          <a:schemeClr val="tx1"/>
        </a:solidFill>
        <a:latin typeface="+mn-lt"/>
        <a:ea typeface="+mn-ea"/>
        <a:cs typeface="+mn-cs"/>
      </a:defRPr>
    </a:lvl5pPr>
    <a:lvl6pPr marL="2856055" algn="l" defTabSz="571211" rtl="0" eaLnBrk="1" latinLnBrk="0" hangingPunct="1">
      <a:defRPr sz="1500" kern="1200">
        <a:solidFill>
          <a:schemeClr val="tx1"/>
        </a:solidFill>
        <a:latin typeface="+mn-lt"/>
        <a:ea typeface="+mn-ea"/>
        <a:cs typeface="+mn-cs"/>
      </a:defRPr>
    </a:lvl6pPr>
    <a:lvl7pPr marL="3427265" algn="l" defTabSz="571211" rtl="0" eaLnBrk="1" latinLnBrk="0" hangingPunct="1">
      <a:defRPr sz="1500" kern="1200">
        <a:solidFill>
          <a:schemeClr val="tx1"/>
        </a:solidFill>
        <a:latin typeface="+mn-lt"/>
        <a:ea typeface="+mn-ea"/>
        <a:cs typeface="+mn-cs"/>
      </a:defRPr>
    </a:lvl7pPr>
    <a:lvl8pPr marL="3998477" algn="l" defTabSz="571211" rtl="0" eaLnBrk="1" latinLnBrk="0" hangingPunct="1">
      <a:defRPr sz="1500" kern="1200">
        <a:solidFill>
          <a:schemeClr val="tx1"/>
        </a:solidFill>
        <a:latin typeface="+mn-lt"/>
        <a:ea typeface="+mn-ea"/>
        <a:cs typeface="+mn-cs"/>
      </a:defRPr>
    </a:lvl8pPr>
    <a:lvl9pPr marL="4569687" algn="l" defTabSz="571211"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apps.exchange.autodesk.com/"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 will now begin with an overview of the Autodesk Exchange store.</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a:t>
            </a:fld>
            <a:endParaRPr lang="en-US" dirty="0"/>
          </a:p>
        </p:txBody>
      </p:sp>
    </p:spTree>
    <p:extLst>
      <p:ext uri="{BB962C8B-B14F-4D97-AF65-F5344CB8AC3E}">
        <p14:creationId xmlns:p14="http://schemas.microsoft.com/office/powerpoint/2010/main" val="41502393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The link to the main exchange</a:t>
            </a:r>
            <a:r>
              <a:rPr lang="en-US" baseline="0" dirty="0" smtClean="0"/>
              <a:t> store page is </a:t>
            </a:r>
            <a:r>
              <a:rPr lang="en-US" dirty="0" smtClean="0">
                <a:hlinkClick r:id="rId3"/>
              </a:rPr>
              <a:t>http://apps.exchange.autodesk.com/</a:t>
            </a:r>
            <a:endParaRPr lang="en-US" baseline="0" dirty="0" smtClean="0"/>
          </a:p>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The exchange app store is designed to be a one stop shop for all 3</a:t>
            </a:r>
            <a:r>
              <a:rPr lang="en-US" baseline="30000" dirty="0" smtClean="0"/>
              <a:t>rd</a:t>
            </a:r>
            <a:r>
              <a:rPr lang="en-US" dirty="0" smtClean="0"/>
              <a:t> party apps built to use Autodesk products. The idea is to</a:t>
            </a:r>
            <a:r>
              <a:rPr lang="en-US" baseline="0" dirty="0" smtClean="0"/>
              <a:t> allow for a uniform user experience of the App store no matter which product App they use, be it Revit, AutoCAD or Inventor. </a:t>
            </a:r>
            <a:endParaRPr lang="en-US"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2</a:t>
            </a:fld>
            <a:endParaRPr lang="en-US" dirty="0"/>
          </a:p>
        </p:txBody>
      </p:sp>
    </p:spTree>
    <p:extLst>
      <p:ext uri="{BB962C8B-B14F-4D97-AF65-F5344CB8AC3E}">
        <p14:creationId xmlns:p14="http://schemas.microsoft.com/office/powerpoint/2010/main" val="3979939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Revit Exchange App store is one of the many App stores</a:t>
            </a:r>
            <a:r>
              <a:rPr lang="en-US" baseline="0" dirty="0" smtClean="0"/>
              <a:t> in Autodesk Exchange Apps store. </a:t>
            </a:r>
            <a:r>
              <a:rPr lang="en-US" dirty="0" smtClean="0"/>
              <a:t>It allows</a:t>
            </a:r>
            <a:r>
              <a:rPr lang="en-US" baseline="0" dirty="0" smtClean="0"/>
              <a:t> you to provide Apps for Revit 2013 and up.  </a:t>
            </a:r>
          </a:p>
          <a:p>
            <a:pPr marL="0" marR="0" indent="0" algn="l" defTabSz="571211" rtl="0" eaLnBrk="1" fontAlgn="auto" latinLnBrk="0" hangingPunct="1">
              <a:lnSpc>
                <a:spcPct val="100000"/>
              </a:lnSpc>
              <a:spcBef>
                <a:spcPts val="0"/>
              </a:spcBef>
              <a:spcAft>
                <a:spcPts val="0"/>
              </a:spcAft>
              <a:buClrTx/>
              <a:buSzTx/>
              <a:buFontTx/>
              <a:buNone/>
              <a:tabLst/>
              <a:defRPr/>
            </a:pPr>
            <a:r>
              <a:rPr lang="en-US" baseline="0" dirty="0" smtClean="0"/>
              <a:t>Let me show you the Revit store. In the store you will see different sections on the page: &lt;while pointing to each section&gt; Featured apps section, Most Downloaded apps section, and category for different kinds of Revit Apps.  </a:t>
            </a:r>
          </a:p>
          <a:p>
            <a:pPr marL="0" marR="0" indent="0" algn="l" defTabSz="571211" rtl="0" eaLnBrk="1" fontAlgn="auto" latinLnBrk="0" hangingPunct="1">
              <a:lnSpc>
                <a:spcPct val="100000"/>
              </a:lnSpc>
              <a:spcBef>
                <a:spcPts val="0"/>
              </a:spcBef>
              <a:spcAft>
                <a:spcPts val="0"/>
              </a:spcAft>
              <a:buClrTx/>
              <a:buSzTx/>
              <a:buFontTx/>
              <a:buNone/>
              <a:tabLst/>
              <a:defRPr/>
            </a:pPr>
            <a:r>
              <a:rPr lang="en-US" baseline="0" dirty="0" smtClean="0"/>
              <a:t>The store is also viewable in different languages. If your apps support non English versions, you app will appear in different language store.  </a:t>
            </a:r>
          </a:p>
          <a:p>
            <a:pPr marL="0" marR="0" indent="0" algn="l" defTabSz="571211" rtl="0" eaLnBrk="1" fontAlgn="auto" latinLnBrk="0" hangingPunct="1">
              <a:lnSpc>
                <a:spcPct val="100000"/>
              </a:lnSpc>
              <a:spcBef>
                <a:spcPts val="0"/>
              </a:spcBef>
              <a:spcAft>
                <a:spcPts val="0"/>
              </a:spcAft>
              <a:buClrTx/>
              <a:buSzTx/>
              <a:buFontTx/>
              <a:buNone/>
              <a:tabLst/>
              <a:defRPr/>
            </a:pPr>
            <a:endParaRPr lang="en-US" baseline="0" dirty="0" smtClean="0"/>
          </a:p>
          <a:p>
            <a:pPr marL="0" marR="0" indent="0" algn="l" defTabSz="571211" rtl="0" eaLnBrk="1" fontAlgn="auto" latinLnBrk="0" hangingPunct="1">
              <a:lnSpc>
                <a:spcPct val="100000"/>
              </a:lnSpc>
              <a:spcBef>
                <a:spcPts val="0"/>
              </a:spcBef>
              <a:spcAft>
                <a:spcPts val="0"/>
              </a:spcAft>
              <a:buClrTx/>
              <a:buSzTx/>
              <a:buFontTx/>
              <a:buNone/>
              <a:tabLst/>
              <a:defRPr/>
            </a:pPr>
            <a:r>
              <a:rPr lang="en-US" baseline="0" dirty="0" smtClean="0"/>
              <a:t>In the bottom right you see “Exchange Apps Developers!” button. This button takes you to the page where you can submit your apps for publication. </a:t>
            </a:r>
          </a:p>
          <a:p>
            <a:endParaRPr lang="en-US" baseline="0" dirty="0" smtClean="0"/>
          </a:p>
          <a:p>
            <a:r>
              <a:rPr lang="en-US" baseline="0" dirty="0" smtClean="0"/>
              <a:t>To access to Revit apps, you can use search field at the top. Show all will display all the Revit apps currently available.  &lt;Show all&gt;.  As an example, here is each app page looks like &lt;you can show one of ADN plugin as an example&gt;. As  a publisher, you will be providing information that appear on these pages when you are submitting your apps.  </a:t>
            </a:r>
          </a:p>
          <a:p>
            <a:pPr marL="0" marR="0" indent="0" algn="l" defTabSz="571211" rtl="0" eaLnBrk="1" fontAlgn="auto" latinLnBrk="0" hangingPunct="1">
              <a:lnSpc>
                <a:spcPct val="100000"/>
              </a:lnSpc>
              <a:spcBef>
                <a:spcPts val="0"/>
              </a:spcBef>
              <a:spcAft>
                <a:spcPts val="0"/>
              </a:spcAft>
              <a:buClrTx/>
              <a:buSzTx/>
              <a:buFontTx/>
              <a:buNone/>
              <a:tabLst/>
              <a:defRPr/>
            </a:pPr>
            <a:endParaRPr lang="en-US" baseline="0"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3</a:t>
            </a:fld>
            <a:endParaRPr lang="en-US" dirty="0"/>
          </a:p>
        </p:txBody>
      </p:sp>
    </p:spTree>
    <p:extLst>
      <p:ext uri="{BB962C8B-B14F-4D97-AF65-F5344CB8AC3E}">
        <p14:creationId xmlns:p14="http://schemas.microsoft.com/office/powerpoint/2010/main" val="11991468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1300091" rtl="0" eaLnBrk="1" fontAlgn="base" latinLnBrk="0" hangingPunct="1">
              <a:lnSpc>
                <a:spcPct val="100000"/>
              </a:lnSpc>
              <a:spcBef>
                <a:spcPct val="30000"/>
              </a:spcBef>
              <a:spcAft>
                <a:spcPct val="0"/>
              </a:spcAft>
              <a:buClrTx/>
              <a:buSzTx/>
              <a:buFontTx/>
              <a:buNone/>
              <a:tabLst/>
              <a:defRPr/>
            </a:pPr>
            <a:r>
              <a:rPr lang="en-US" baseline="0" dirty="0" smtClean="0"/>
              <a:t>For the user of the store, the exchange store is designed to have a common look and feel across all Autodesk products.</a:t>
            </a:r>
          </a:p>
          <a:p>
            <a:pPr marL="0" marR="0" indent="0" algn="l" defTabSz="1300091" rtl="0" eaLnBrk="1" fontAlgn="base" latinLnBrk="0" hangingPunct="1">
              <a:lnSpc>
                <a:spcPct val="100000"/>
              </a:lnSpc>
              <a:spcBef>
                <a:spcPct val="30000"/>
              </a:spcBef>
              <a:spcAft>
                <a:spcPct val="0"/>
              </a:spcAft>
              <a:buClrTx/>
              <a:buSzTx/>
              <a:buFontTx/>
              <a:buNone/>
              <a:tabLst/>
              <a:defRPr/>
            </a:pPr>
            <a:endParaRPr lang="en-US" baseline="0" dirty="0" smtClean="0"/>
          </a:p>
          <a:p>
            <a:pPr marL="0" marR="0" indent="0" algn="l" defTabSz="1300091" rtl="0" eaLnBrk="1" fontAlgn="base" latinLnBrk="0" hangingPunct="1">
              <a:lnSpc>
                <a:spcPct val="100000"/>
              </a:lnSpc>
              <a:spcBef>
                <a:spcPct val="30000"/>
              </a:spcBef>
              <a:spcAft>
                <a:spcPct val="0"/>
              </a:spcAft>
              <a:buClrTx/>
              <a:buSzTx/>
              <a:buFontTx/>
              <a:buNone/>
              <a:tabLst/>
              <a:defRPr/>
            </a:pPr>
            <a:r>
              <a:rPr lang="en-US" baseline="0" dirty="0" smtClean="0"/>
              <a:t>For app developers like you, the store streamlines the process of publishing the app. Autodesk will help you with, for example, providing a common looking help document template and creating an installer for your app.</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4</a:t>
            </a:fld>
            <a:endParaRPr lang="en-US" dirty="0"/>
          </a:p>
        </p:txBody>
      </p:sp>
    </p:spTree>
    <p:extLst>
      <p:ext uri="{BB962C8B-B14F-4D97-AF65-F5344CB8AC3E}">
        <p14:creationId xmlns:p14="http://schemas.microsoft.com/office/powerpoint/2010/main" val="24992643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Here are some sample image</a:t>
            </a:r>
            <a:r>
              <a:rPr lang="en-US" baseline="0" dirty="0" smtClean="0"/>
              <a:t>s to give you an idea of </a:t>
            </a:r>
            <a:r>
              <a:rPr lang="en-US" dirty="0" smtClean="0"/>
              <a:t>Common</a:t>
            </a:r>
            <a:r>
              <a:rPr lang="en-US" baseline="0" dirty="0" smtClean="0"/>
              <a:t> User Experience for an app store user.</a:t>
            </a:r>
          </a:p>
          <a:p>
            <a:pPr marL="0" marR="0" indent="0" algn="l" defTabSz="571211" rtl="0" eaLnBrk="1" fontAlgn="auto" latinLnBrk="0" hangingPunct="1">
              <a:lnSpc>
                <a:spcPct val="100000"/>
              </a:lnSpc>
              <a:spcBef>
                <a:spcPts val="0"/>
              </a:spcBef>
              <a:spcAft>
                <a:spcPts val="0"/>
              </a:spcAft>
              <a:buClrTx/>
              <a:buSzTx/>
              <a:buFontTx/>
              <a:buNone/>
              <a:tabLst/>
              <a:defRPr/>
            </a:pPr>
            <a:r>
              <a:rPr lang="en-US" baseline="0" dirty="0" smtClean="0"/>
              <a:t>   </a:t>
            </a:r>
            <a:endParaRPr lang="en-US"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5</a:t>
            </a:fld>
            <a:endParaRPr lang="en-US" dirty="0"/>
          </a:p>
        </p:txBody>
      </p:sp>
    </p:spTree>
    <p:extLst>
      <p:ext uri="{BB962C8B-B14F-4D97-AF65-F5344CB8AC3E}">
        <p14:creationId xmlns:p14="http://schemas.microsoft.com/office/powerpoint/2010/main" val="3967990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r>
              <a:rPr lang="en-US" baseline="0" dirty="0" smtClean="0"/>
              <a:t>As a developer you will see that the exchange store makes it very easy to publish your apps. Once you submit your app through the “Exchange Apps Developers” link:</a:t>
            </a:r>
          </a:p>
          <a:p>
            <a:pPr marL="0" indent="0">
              <a:buFontTx/>
              <a:buNone/>
            </a:pPr>
            <a:r>
              <a:rPr lang="en-US" baseline="0" dirty="0" smtClean="0"/>
              <a:t>-     We will create the HTML help file template based on the information you submit for your app</a:t>
            </a:r>
          </a:p>
          <a:p>
            <a:pPr marL="285750" indent="-285750">
              <a:buFontTx/>
              <a:buChar char="-"/>
            </a:pPr>
            <a:r>
              <a:rPr lang="en-US" baseline="0" dirty="0" smtClean="0"/>
              <a:t>We will create the installer for your app </a:t>
            </a:r>
          </a:p>
          <a:p>
            <a:pPr marL="285750" indent="-285750">
              <a:buFontTx/>
              <a:buChar char="-"/>
            </a:pPr>
            <a:r>
              <a:rPr lang="en-US" baseline="0" dirty="0" smtClean="0"/>
              <a:t>There are a small set of guidelines you will need to satisfy when you are submitting your app.  </a:t>
            </a:r>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6</a:t>
            </a:fld>
            <a:endParaRPr lang="en-US" dirty="0"/>
          </a:p>
        </p:txBody>
      </p:sp>
    </p:spTree>
    <p:extLst>
      <p:ext uri="{BB962C8B-B14F-4D97-AF65-F5344CB8AC3E}">
        <p14:creationId xmlns:p14="http://schemas.microsoft.com/office/powerpoint/2010/main" val="36699245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end of the presentation. Thank you </a:t>
            </a:r>
            <a:r>
              <a:rPr lang="en-US" smtClean="0"/>
              <a:t>for</a:t>
            </a:r>
            <a:r>
              <a:rPr lang="en-US" baseline="0" smtClean="0"/>
              <a:t> watching </a:t>
            </a:r>
            <a:r>
              <a:rPr lang="en-US" baseline="0" dirty="0" smtClean="0"/>
              <a:t>it patiently.</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7</a:t>
            </a:fld>
            <a:endParaRPr lang="en-US" dirty="0"/>
          </a:p>
        </p:txBody>
      </p:sp>
    </p:spTree>
    <p:extLst>
      <p:ext uri="{BB962C8B-B14F-4D97-AF65-F5344CB8AC3E}">
        <p14:creationId xmlns:p14="http://schemas.microsoft.com/office/powerpoint/2010/main" val="6098420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bg>
      <p:bgPr>
        <a:solidFill>
          <a:schemeClr val="bg1"/>
        </a:solidFill>
        <a:effectLst/>
      </p:bgPr>
    </p:bg>
    <p:spTree>
      <p:nvGrpSpPr>
        <p:cNvPr id="1" name=""/>
        <p:cNvGrpSpPr/>
        <p:nvPr/>
      </p:nvGrpSpPr>
      <p:grpSpPr>
        <a:xfrm>
          <a:off x="0" y="0"/>
          <a:ext cx="0" cy="0"/>
          <a:chOff x="0" y="0"/>
          <a:chExt cx="0" cy="0"/>
        </a:xfrm>
      </p:grpSpPr>
      <p:pic>
        <p:nvPicPr>
          <p:cNvPr id="13" name="Picture 12" descr="Corporate_Image_2012-09_v2.tif"/>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718" y="0"/>
            <a:ext cx="9156719" cy="6858000"/>
          </a:xfrm>
          <a:prstGeom prst="rect">
            <a:avLst/>
          </a:prstGeom>
        </p:spPr>
      </p:pic>
      <p:sp>
        <p:nvSpPr>
          <p:cNvPr id="2" name="Rectangle 1"/>
          <p:cNvSpPr/>
          <p:nvPr/>
        </p:nvSpPr>
        <p:spPr>
          <a:xfrm>
            <a:off x="-12719" y="1820073"/>
            <a:ext cx="9156719" cy="3066252"/>
          </a:xfrm>
          <a:prstGeom prst="rect">
            <a:avLst/>
          </a:prstGeom>
          <a:gradFill>
            <a:gsLst>
              <a:gs pos="20000">
                <a:schemeClr val="bg1">
                  <a:alpha val="88000"/>
                </a:schemeClr>
              </a:gs>
              <a:gs pos="100000">
                <a:schemeClr val="bg1">
                  <a:alpha val="50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4" name="Text Placeholder 2"/>
          <p:cNvSpPr>
            <a:spLocks noGrp="1"/>
          </p:cNvSpPr>
          <p:nvPr>
            <p:ph type="body" sz="quarter" idx="10" hasCustomPrompt="1"/>
          </p:nvPr>
        </p:nvSpPr>
        <p:spPr>
          <a:xfrm>
            <a:off x="457202" y="2432343"/>
            <a:ext cx="5397358" cy="1205087"/>
          </a:xfrm>
          <a:prstGeom prst="rect">
            <a:avLst/>
          </a:prstGeom>
        </p:spPr>
        <p:txBody>
          <a:bodyPr lIns="0" tIns="0" rIns="0" bIns="0">
            <a:noAutofit/>
          </a:bodyPr>
          <a:lstStyle>
            <a:lvl1pPr marL="0" indent="0">
              <a:spcBef>
                <a:spcPts val="0"/>
              </a:spcBef>
              <a:buNone/>
              <a:defRPr sz="3000" b="1" baseline="0">
                <a:solidFill>
                  <a:schemeClr val="accent4"/>
                </a:solidFill>
              </a:defRPr>
            </a:lvl1pPr>
          </a:lstStyle>
          <a:p>
            <a:r>
              <a:rPr lang="en-US" sz="2800" dirty="0" smtClean="0"/>
              <a:t>Main title can extend over one or two lines</a:t>
            </a:r>
            <a:endParaRPr lang="en-US" sz="2800" dirty="0"/>
          </a:p>
        </p:txBody>
      </p:sp>
      <p:sp>
        <p:nvSpPr>
          <p:cNvPr id="5" name="Text Placeholder 4"/>
          <p:cNvSpPr>
            <a:spLocks noGrp="1"/>
          </p:cNvSpPr>
          <p:nvPr>
            <p:ph type="body" sz="quarter" idx="12" hasCustomPrompt="1"/>
          </p:nvPr>
        </p:nvSpPr>
        <p:spPr>
          <a:xfrm>
            <a:off x="457203" y="3728701"/>
            <a:ext cx="5397356" cy="387255"/>
          </a:xfrm>
          <a:prstGeom prst="rect">
            <a:avLst/>
          </a:prstGeom>
        </p:spPr>
        <p:txBody>
          <a:bodyPr lIns="0" tIns="0" rIns="0" bIns="0">
            <a:noAutofit/>
          </a:bodyPr>
          <a:lstStyle>
            <a:lvl1pPr marL="0" indent="0">
              <a:spcBef>
                <a:spcPts val="0"/>
              </a:spcBef>
              <a:buNone/>
              <a:defRPr sz="2000" b="0" baseline="0">
                <a:solidFill>
                  <a:schemeClr val="tx2"/>
                </a:solidFill>
              </a:defRPr>
            </a:lvl1pPr>
          </a:lstStyle>
          <a:p>
            <a:pPr lvl="0"/>
            <a:r>
              <a:rPr lang="en-US" dirty="0" smtClean="0"/>
              <a:t>Presenter Name</a:t>
            </a:r>
          </a:p>
        </p:txBody>
      </p:sp>
      <p:sp>
        <p:nvSpPr>
          <p:cNvPr id="6" name="Text Placeholder 15"/>
          <p:cNvSpPr>
            <a:spLocks noGrp="1"/>
          </p:cNvSpPr>
          <p:nvPr>
            <p:ph type="body" sz="quarter" idx="13" hasCustomPrompt="1"/>
          </p:nvPr>
        </p:nvSpPr>
        <p:spPr>
          <a:xfrm>
            <a:off x="457202" y="4115957"/>
            <a:ext cx="5397358" cy="315214"/>
          </a:xfrm>
          <a:prstGeom prst="rect">
            <a:avLst/>
          </a:prstGeom>
        </p:spPr>
        <p:txBody>
          <a:bodyPr lIns="0" tIns="0" rIns="0" bIns="0">
            <a:noAutofit/>
          </a:bodyPr>
          <a:lstStyle>
            <a:lvl1pPr marL="0" indent="0">
              <a:spcBef>
                <a:spcPts val="0"/>
              </a:spcBef>
              <a:buNone/>
              <a:defRPr sz="1500" b="0" baseline="0">
                <a:solidFill>
                  <a:schemeClr val="tx2"/>
                </a:solidFill>
              </a:defRPr>
            </a:lvl1pPr>
          </a:lstStyle>
          <a:p>
            <a:pPr lvl="0"/>
            <a:r>
              <a:rPr lang="en-US" dirty="0" smtClean="0"/>
              <a:t>Presenter Title</a:t>
            </a:r>
            <a:endParaRPr lang="en-US" dirty="0"/>
          </a:p>
        </p:txBody>
      </p:sp>
      <p:sp>
        <p:nvSpPr>
          <p:cNvPr id="7" name="Text Placeholder 15"/>
          <p:cNvSpPr>
            <a:spLocks noGrp="1"/>
          </p:cNvSpPr>
          <p:nvPr>
            <p:ph type="body" sz="quarter" idx="14" hasCustomPrompt="1"/>
          </p:nvPr>
        </p:nvSpPr>
        <p:spPr>
          <a:xfrm>
            <a:off x="457202" y="2117128"/>
            <a:ext cx="5397358" cy="315214"/>
          </a:xfrm>
          <a:prstGeom prst="rect">
            <a:avLst/>
          </a:prstGeom>
        </p:spPr>
        <p:txBody>
          <a:bodyPr lIns="0" tIns="0" rIns="0" bIns="0">
            <a:noAutofit/>
          </a:bodyPr>
          <a:lstStyle>
            <a:lvl1pPr marL="0" indent="0">
              <a:spcBef>
                <a:spcPts val="0"/>
              </a:spcBef>
              <a:buNone/>
              <a:defRPr sz="1500" b="1" baseline="0">
                <a:solidFill>
                  <a:schemeClr val="accent4"/>
                </a:solidFill>
              </a:defRPr>
            </a:lvl1pPr>
          </a:lstStyle>
          <a:p>
            <a:pPr lvl="0"/>
            <a:r>
              <a:rPr lang="en-US" dirty="0" smtClean="0"/>
              <a:t>Event name 2013</a:t>
            </a:r>
            <a:endParaRPr lang="en-US" dirty="0"/>
          </a:p>
        </p:txBody>
      </p:sp>
      <p:sp>
        <p:nvSpPr>
          <p:cNvPr id="14" name="TextBox 13"/>
          <p:cNvSpPr txBox="1"/>
          <p:nvPr/>
        </p:nvSpPr>
        <p:spPr>
          <a:xfrm>
            <a:off x="74081" y="6596295"/>
            <a:ext cx="1316904" cy="138499"/>
          </a:xfrm>
          <a:prstGeom prst="rect">
            <a:avLst/>
          </a:prstGeom>
          <a:noFill/>
        </p:spPr>
        <p:txBody>
          <a:bodyPr wrap="square" lIns="0" tIns="0" rIns="0" bIns="0" rtlCol="0">
            <a:spAutoFit/>
          </a:bodyPr>
          <a:lstStyle/>
          <a:p>
            <a:r>
              <a:rPr lang="en-US" sz="900" b="0" i="0" baseline="0" dirty="0" smtClean="0">
                <a:solidFill>
                  <a:schemeClr val="bg1">
                    <a:lumMod val="65000"/>
                  </a:schemeClr>
                </a:solidFill>
                <a:latin typeface="Frutiger Next LT W1G"/>
                <a:cs typeface="Frutiger Next LT W1G"/>
              </a:rPr>
              <a:t>© 2013 Autodesk</a:t>
            </a:r>
            <a:endParaRPr lang="en-US" sz="900" b="0" i="0" baseline="0" dirty="0">
              <a:solidFill>
                <a:schemeClr val="bg1">
                  <a:lumMod val="65000"/>
                </a:schemeClr>
              </a:solidFill>
              <a:latin typeface="Frutiger Next LT W1G"/>
              <a:cs typeface="Frutiger Next LT W1G"/>
            </a:endParaRPr>
          </a:p>
        </p:txBody>
      </p:sp>
      <p:sp>
        <p:nvSpPr>
          <p:cNvPr id="20" name="Rectangle 19"/>
          <p:cNvSpPr/>
          <p:nvPr userDrawn="1"/>
        </p:nvSpPr>
        <p:spPr>
          <a:xfrm>
            <a:off x="-12719" y="4460895"/>
            <a:ext cx="9156719" cy="423184"/>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1" name="Picture 20" descr="autodesk-logo-rgb-color-logo-black-text-large.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612987" y="4552805"/>
            <a:ext cx="1427937" cy="239365"/>
          </a:xfrm>
          <a:prstGeom prst="rect">
            <a:avLst/>
          </a:prstGeom>
        </p:spPr>
      </p:pic>
    </p:spTree>
    <p:extLst>
      <p:ext uri="{BB962C8B-B14F-4D97-AF65-F5344CB8AC3E}">
        <p14:creationId xmlns:p14="http://schemas.microsoft.com/office/powerpoint/2010/main" val="303404946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1 column)">
    <p:spTree>
      <p:nvGrpSpPr>
        <p:cNvPr id="1" name=""/>
        <p:cNvGrpSpPr/>
        <p:nvPr/>
      </p:nvGrpSpPr>
      <p:grpSpPr>
        <a:xfrm>
          <a:off x="0" y="0"/>
          <a:ext cx="0" cy="0"/>
          <a:chOff x="0" y="0"/>
          <a:chExt cx="0" cy="0"/>
        </a:xfrm>
      </p:grpSpPr>
      <p:sp>
        <p:nvSpPr>
          <p:cNvPr id="4" name="Content Placeholder 2"/>
          <p:cNvSpPr>
            <a:spLocks noGrp="1"/>
          </p:cNvSpPr>
          <p:nvPr>
            <p:ph idx="1"/>
          </p:nvPr>
        </p:nvSpPr>
        <p:spPr>
          <a:xfrm>
            <a:off x="457200" y="1417641"/>
            <a:ext cx="8229644"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solidFill>
                  <a:schemeClr val="tx1"/>
                </a:solidFill>
              </a:defRPr>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solidFill>
                  <a:schemeClr val="tx1"/>
                </a:solidFill>
              </a:defRPr>
            </a:lvl3pPr>
            <a:lvl4pPr marL="1791862" indent="-230379">
              <a:buClr>
                <a:schemeClr val="accent4"/>
              </a:buClr>
              <a:buSzPct val="100000"/>
              <a:buFont typeface="Wingdings" charset="2"/>
              <a:buChar char="§"/>
              <a:defRPr sz="1700" b="0">
                <a:solidFill>
                  <a:schemeClr val="tx1"/>
                </a:solidFill>
              </a:defRPr>
            </a:lvl4pPr>
            <a:lvl5pPr marL="2303821" indent="-201582">
              <a:buClr>
                <a:schemeClr val="accent4"/>
              </a:buClr>
              <a:buSzPct val="100000"/>
              <a:buFont typeface="Wingdings" charset="2"/>
              <a:buChar char="§"/>
              <a:defRPr sz="1500" b="0">
                <a:solidFill>
                  <a:schemeClr val="tx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dirty="0" smtClean="0"/>
              <a:t>Click to edit Master title style</a:t>
            </a:r>
            <a:endParaRPr lang="en-US" dirty="0"/>
          </a:p>
        </p:txBody>
      </p:sp>
      <p:sp>
        <p:nvSpPr>
          <p:cNvPr id="7" name="Rectangle 6"/>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dirty="0"/>
          </a:p>
        </p:txBody>
      </p:sp>
      <p:sp>
        <p:nvSpPr>
          <p:cNvPr id="8" name="TextBox 7"/>
          <p:cNvSpPr txBox="1"/>
          <p:nvPr/>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pic>
        <p:nvPicPr>
          <p:cNvPr id="16" name="Picture 15"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userDrawn="1"/>
        </p:nvSpPr>
        <p:spPr>
          <a:xfrm>
            <a:off x="3792592" y="6613830"/>
            <a:ext cx="1558815" cy="138499"/>
          </a:xfrm>
          <a:prstGeom prst="rect">
            <a:avLst/>
          </a:prstGeom>
          <a:noFill/>
        </p:spPr>
        <p:txBody>
          <a:bodyPr wrap="square" lIns="0" tIns="0" rIns="0" bIns="0" rtlCol="0">
            <a:spAutoFit/>
          </a:bodyPr>
          <a:lstStyle/>
          <a:p>
            <a:pPr algn="ctr"/>
            <a:r>
              <a:rPr lang="en-US" sz="900" b="0" i="0" dirty="0" smtClean="0">
                <a:solidFill>
                  <a:schemeClr val="tx1">
                    <a:lumMod val="65000"/>
                    <a:lumOff val="35000"/>
                  </a:schemeClr>
                </a:solidFill>
                <a:latin typeface="Frutiger Next LT W1G"/>
                <a:cs typeface="Frutiger Next LT W1G"/>
              </a:rPr>
              <a:t>Autodesk Exchange for Revit</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08939727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2 column)">
    <p:spTree>
      <p:nvGrpSpPr>
        <p:cNvPr id="1" name=""/>
        <p:cNvGrpSpPr/>
        <p:nvPr/>
      </p:nvGrpSpPr>
      <p:grpSpPr>
        <a:xfrm>
          <a:off x="0" y="0"/>
          <a:ext cx="0" cy="0"/>
          <a:chOff x="0" y="0"/>
          <a:chExt cx="0" cy="0"/>
        </a:xfrm>
      </p:grpSpPr>
      <p:sp>
        <p:nvSpPr>
          <p:cNvPr id="8"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smtClean="0"/>
              <a:t>Click to edit Master title style</a:t>
            </a:r>
            <a:endParaRPr lang="en-US" dirty="0"/>
          </a:p>
        </p:txBody>
      </p:sp>
      <p:sp>
        <p:nvSpPr>
          <p:cNvPr id="13"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98441" indent="-339706">
              <a:buClr>
                <a:schemeClr val="accent4"/>
              </a:buClr>
              <a:buSzPct val="100000"/>
              <a:buFont typeface="Wingdings" pitchFamily="2" charset="2"/>
              <a:buChar char="§"/>
              <a:defRPr sz="2800" b="0"/>
            </a:lvl1pPr>
            <a:lvl2pPr marL="1011920" indent="-467958">
              <a:buClr>
                <a:schemeClr val="accent4"/>
              </a:buClr>
              <a:buSzPct val="100000"/>
              <a:buFont typeface="Wingdings" pitchFamily="2" charset="2"/>
              <a:buChar char="§"/>
              <a:defRPr sz="2300" b="0">
                <a:solidFill>
                  <a:schemeClr val="tx1"/>
                </a:solidFill>
              </a:defRPr>
            </a:lvl2pPr>
            <a:lvl3pPr marL="1344695" indent="-323971">
              <a:buClr>
                <a:schemeClr val="accent4"/>
              </a:buClr>
              <a:buSzPct val="100000"/>
              <a:buFont typeface="Wingdings" pitchFamily="2" charset="2"/>
              <a:buChar char="§"/>
              <a:defRPr sz="2000" b="0"/>
            </a:lvl3pPr>
            <a:lvl4pPr marL="1885453" indent="-323971">
              <a:buClr>
                <a:schemeClr val="accent4"/>
              </a:buClr>
              <a:buSzPct val="100000"/>
              <a:buFont typeface="Wingdings" pitchFamily="2" charset="2"/>
              <a:buChar char="§"/>
              <a:defRPr sz="1700" b="0"/>
            </a:lvl4pPr>
            <a:lvl5pPr marL="2390214" indent="-287974">
              <a:buClr>
                <a:schemeClr val="accent4"/>
              </a:buClr>
              <a:buSzPct val="100000"/>
              <a:buFont typeface="Wingdings" pitchFamily="2"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4" name="Content Placeholder 2"/>
          <p:cNvSpPr>
            <a:spLocks noGrp="1"/>
          </p:cNvSpPr>
          <p:nvPr>
            <p:ph idx="18"/>
          </p:nvPr>
        </p:nvSpPr>
        <p:spPr>
          <a:xfrm>
            <a:off x="4646614" y="1417640"/>
            <a:ext cx="4040187" cy="4767281"/>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6" name="Rectangle 5"/>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9" name="Picture 8"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1" name="TextBox 10"/>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32982385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Text and Images">
    <p:spTree>
      <p:nvGrpSpPr>
        <p:cNvPr id="1" name=""/>
        <p:cNvGrpSpPr/>
        <p:nvPr/>
      </p:nvGrpSpPr>
      <p:grpSpPr>
        <a:xfrm>
          <a:off x="0" y="0"/>
          <a:ext cx="0" cy="0"/>
          <a:chOff x="0" y="0"/>
          <a:chExt cx="0" cy="0"/>
        </a:xfrm>
      </p:grpSpPr>
      <p:sp>
        <p:nvSpPr>
          <p:cNvPr id="9" name="Picture Placeholder 6"/>
          <p:cNvSpPr>
            <a:spLocks noGrp="1"/>
          </p:cNvSpPr>
          <p:nvPr>
            <p:ph type="pic" sz="quarter" idx="13"/>
          </p:nvPr>
        </p:nvSpPr>
        <p:spPr>
          <a:xfrm>
            <a:off x="4646568" y="1417639"/>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a:solidFill>
                  <a:schemeClr val="accent4"/>
                </a:solidFill>
              </a:defRPr>
            </a:lvl1pPr>
          </a:lstStyle>
          <a:p>
            <a:r>
              <a:rPr lang="en-US" smtClean="0"/>
              <a:t>Click to edit Master title style</a:t>
            </a:r>
            <a:endParaRPr lang="en-US" dirty="0"/>
          </a:p>
        </p:txBody>
      </p:sp>
      <p:sp>
        <p:nvSpPr>
          <p:cNvPr id="17" name="Text Placeholder 16"/>
          <p:cNvSpPr>
            <a:spLocks noGrp="1"/>
          </p:cNvSpPr>
          <p:nvPr>
            <p:ph type="body" sz="quarter" idx="14" hasCustomPrompt="1"/>
          </p:nvPr>
        </p:nvSpPr>
        <p:spPr>
          <a:xfrm>
            <a:off x="4646568" y="3578380"/>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2"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1" name="Picture Placeholder 6"/>
          <p:cNvSpPr>
            <a:spLocks noGrp="1"/>
          </p:cNvSpPr>
          <p:nvPr>
            <p:ph type="pic" sz="quarter" idx="18"/>
          </p:nvPr>
        </p:nvSpPr>
        <p:spPr>
          <a:xfrm>
            <a:off x="4646568" y="3852667"/>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4" name="Text Placeholder 16"/>
          <p:cNvSpPr>
            <a:spLocks noGrp="1"/>
          </p:cNvSpPr>
          <p:nvPr>
            <p:ph type="body" sz="quarter" idx="19" hasCustomPrompt="1"/>
          </p:nvPr>
        </p:nvSpPr>
        <p:spPr>
          <a:xfrm>
            <a:off x="4646568" y="6013407"/>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8" name="Rectangle 17"/>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13" name="Picture 12"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9" name="TextBox 18"/>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24923577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0" name="Title 9"/>
          <p:cNvSpPr>
            <a:spLocks noGrp="1"/>
          </p:cNvSpPr>
          <p:nvPr>
            <p:ph type="title" hasCustomPrompt="1"/>
          </p:nvPr>
        </p:nvSpPr>
        <p:spPr>
          <a:xfrm>
            <a:off x="457200" y="2745696"/>
            <a:ext cx="8229600" cy="1143000"/>
          </a:xfrm>
          <a:prstGeom prst="rect">
            <a:avLst/>
          </a:prstGeom>
        </p:spPr>
        <p:txBody>
          <a:bodyPr anchor="ctr"/>
          <a:lstStyle>
            <a:lvl1pPr algn="ctr">
              <a:defRPr sz="10000">
                <a:solidFill>
                  <a:schemeClr val="accent4"/>
                </a:solidFill>
              </a:defRPr>
            </a:lvl1pPr>
          </a:lstStyle>
          <a:p>
            <a:r>
              <a:rPr lang="en-US" dirty="0" smtClean="0"/>
              <a:t>Keyword</a:t>
            </a:r>
            <a:endParaRPr lang="en-US" dirty="0"/>
          </a:p>
        </p:txBody>
      </p:sp>
      <p:sp>
        <p:nvSpPr>
          <p:cNvPr id="6" name="TextBox 5"/>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658609359"/>
      </p:ext>
    </p:extLst>
  </p:cSld>
  <p:clrMapOvr>
    <a:masterClrMapping/>
  </p:clrMapOvr>
  <p:transition/>
  <p:timing>
    <p:tnLst>
      <p:par>
        <p:cTn id="1" dur="indefinite" restart="never" nodeType="tmRoot"/>
      </p:par>
    </p:tnLst>
  </p:timing>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4" name="TextBox 3"/>
          <p:cNvSpPr txBox="1"/>
          <p:nvPr/>
        </p:nvSpPr>
        <p:spPr>
          <a:xfrm>
            <a:off x="220961" y="6037116"/>
            <a:ext cx="8772932" cy="692497"/>
          </a:xfrm>
          <a:prstGeom prst="rect">
            <a:avLst/>
          </a:prstGeom>
          <a:noFill/>
        </p:spPr>
        <p:txBody>
          <a:bodyPr wrap="square" lIns="0" tIns="0" rIns="0" bIns="0" rtlCol="0">
            <a:spAutoFit/>
          </a:bodyPr>
          <a:lstStyle/>
          <a:p>
            <a:r>
              <a:rPr lang="en-US" sz="900" b="0" i="0" dirty="0" smtClean="0">
                <a:solidFill>
                  <a:schemeClr val="bg1">
                    <a:lumMod val="65000"/>
                  </a:schemeClr>
                </a:solidFill>
                <a:latin typeface="Frutiger Next LT W1G"/>
                <a:cs typeface="Frutiger Next LT W1G"/>
              </a:rPr>
              <a:t>Autodesk is a registered trademark of Autodesk, Inc., and/or its subsidiaries and/or affiliates in the USA and/or other countries. All other brand names, product names, or trademarks belong to their respective holders. Autodesk reserves the right to alter product and services offerings, and specifications and pricing at any time without notice, and is not responsible for typographical or graphical errors that may appear in this document.</a:t>
            </a:r>
          </a:p>
          <a:p>
            <a:endParaRPr lang="en-US" sz="900" b="0" i="0" dirty="0" smtClean="0">
              <a:solidFill>
                <a:schemeClr val="bg1">
                  <a:lumMod val="65000"/>
                </a:schemeClr>
              </a:solidFill>
              <a:latin typeface="Frutiger Next LT W1G"/>
              <a:cs typeface="Frutiger Next LT W1G"/>
            </a:endParaRPr>
          </a:p>
          <a:p>
            <a:r>
              <a:rPr lang="en-US" sz="900" b="0" i="0" dirty="0" smtClean="0">
                <a:solidFill>
                  <a:schemeClr val="bg1">
                    <a:lumMod val="65000"/>
                  </a:schemeClr>
                </a:solidFill>
                <a:latin typeface="Frutiger Next LT W1G"/>
                <a:cs typeface="Frutiger Next LT W1G"/>
              </a:rPr>
              <a:t>© 2013 Autodesk, Inc. All right</a:t>
            </a:r>
            <a:r>
              <a:rPr lang="en-US" sz="900" b="0" i="0" baseline="0" dirty="0" smtClean="0">
                <a:solidFill>
                  <a:schemeClr val="bg1">
                    <a:lumMod val="65000"/>
                  </a:schemeClr>
                </a:solidFill>
                <a:latin typeface="Frutiger Next LT W1G"/>
                <a:cs typeface="Frutiger Next LT W1G"/>
              </a:rPr>
              <a:t>s reserved.</a:t>
            </a:r>
            <a:endParaRPr lang="en-US" sz="900" b="0" i="0" dirty="0">
              <a:solidFill>
                <a:schemeClr val="bg1">
                  <a:lumMod val="65000"/>
                </a:schemeClr>
              </a:solidFill>
              <a:latin typeface="Frutiger Next LT W1G"/>
              <a:cs typeface="Frutiger Next LT W1G"/>
            </a:endParaRPr>
          </a:p>
        </p:txBody>
      </p:sp>
      <p:pic>
        <p:nvPicPr>
          <p:cNvPr id="6" name="Picture 5" descr="autodesk-logo-rgb-color-logo-black-text-large.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478612" y="2771429"/>
            <a:ext cx="6178740" cy="1035742"/>
          </a:xfrm>
          <a:prstGeom prst="rect">
            <a:avLst/>
          </a:prstGeom>
        </p:spPr>
      </p:pic>
    </p:spTree>
    <p:extLst>
      <p:ext uri="{BB962C8B-B14F-4D97-AF65-F5344CB8AC3E}">
        <p14:creationId xmlns:p14="http://schemas.microsoft.com/office/powerpoint/2010/main" val="2889972964"/>
      </p:ext>
    </p:extLst>
  </p:cSld>
  <p:clrMapOvr>
    <a:masterClrMapping/>
  </p:clrMapOvr>
  <p:timing>
    <p:tnLst>
      <p:par>
        <p:cTn id="1" dur="indefinite" restart="never" nodeType="tmRoot"/>
      </p:par>
    </p:tnLst>
  </p:timing>
  <p:hf sldNum="0" hd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0">
          <a:gsLst>
            <a:gs pos="0">
              <a:schemeClr val="bg1"/>
            </a:gs>
            <a:gs pos="100000">
              <a:schemeClr val="bg1">
                <a:lumMod val="65000"/>
                <a:alpha val="56000"/>
              </a:schemeClr>
            </a:gs>
            <a:gs pos="55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5124512"/>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8" r:id="rId5"/>
    <p:sldLayoutId id="2147483672" r:id="rId6"/>
  </p:sldLayoutIdLst>
  <p:timing>
    <p:tnLst>
      <p:par>
        <p:cTn id="1" dur="indefinite" restart="never" nodeType="tmRoot"/>
      </p:par>
    </p:tnLst>
  </p:timing>
  <p:hf sldNum="0" hdr="0" dt="0"/>
  <p:txStyles>
    <p:titleStyle>
      <a:lvl1pPr algn="l" defTabSz="511960" rtl="0" eaLnBrk="1" latinLnBrk="0" hangingPunct="1">
        <a:spcBef>
          <a:spcPct val="0"/>
        </a:spcBef>
        <a:buNone/>
        <a:defRPr sz="2800" b="1" i="0" kern="1200" baseline="0">
          <a:solidFill>
            <a:srgbClr val="1B58A8"/>
          </a:solidFill>
          <a:latin typeface="Frutiger Next LT W1G"/>
          <a:ea typeface="+mj-ea"/>
          <a:cs typeface="Frutiger Next LT W1G"/>
        </a:defRPr>
      </a:lvl1pPr>
    </p:titleStyle>
    <p:bodyStyle>
      <a:lvl1pPr marL="431961" indent="-431961" algn="l" defTabSz="511960" rtl="0" eaLnBrk="1" latinLnBrk="0" hangingPunct="1">
        <a:spcBef>
          <a:spcPts val="0"/>
        </a:spcBef>
        <a:buFont typeface="Wingdings" charset="2"/>
        <a:buChar char="§"/>
        <a:defRPr sz="2800" b="0" i="0" kern="1200" baseline="0">
          <a:solidFill>
            <a:schemeClr val="tx1"/>
          </a:solidFill>
          <a:latin typeface="Frutiger Next LT W1G"/>
          <a:ea typeface="+mn-ea"/>
          <a:cs typeface="Frutiger Next LT W1G"/>
        </a:defRPr>
      </a:lvl1pPr>
      <a:lvl2pPr marL="831936" indent="-319975" algn="l" defTabSz="511960" rtl="0" eaLnBrk="1" latinLnBrk="0" hangingPunct="1">
        <a:spcBef>
          <a:spcPct val="20000"/>
        </a:spcBef>
        <a:buFont typeface="Wingdings" charset="2"/>
        <a:buChar char="§"/>
        <a:defRPr sz="2300" b="0" i="0" kern="1200">
          <a:solidFill>
            <a:schemeClr val="tx1"/>
          </a:solidFill>
          <a:latin typeface="Frutiger Next LT W1G"/>
          <a:ea typeface="+mn-ea"/>
          <a:cs typeface="Frutiger Next LT W1G"/>
        </a:defRPr>
      </a:lvl2pPr>
      <a:lvl3pPr marL="1279901" indent="-255981" algn="l" defTabSz="511960" rtl="0" eaLnBrk="1" latinLnBrk="0" hangingPunct="1">
        <a:spcBef>
          <a:spcPct val="20000"/>
        </a:spcBef>
        <a:buFont typeface="Wingdings" charset="2"/>
        <a:buChar char="§"/>
        <a:defRPr sz="2000" b="0" i="0" kern="1200">
          <a:solidFill>
            <a:schemeClr val="tx1"/>
          </a:solidFill>
          <a:latin typeface="Frutiger Next LT W1G"/>
          <a:ea typeface="+mn-ea"/>
          <a:cs typeface="Frutiger Next LT W1G"/>
        </a:defRPr>
      </a:lvl3pPr>
      <a:lvl4pPr marL="1791862" indent="-255981" algn="l" defTabSz="511960" rtl="0" eaLnBrk="1" latinLnBrk="0" hangingPunct="1">
        <a:spcBef>
          <a:spcPct val="20000"/>
        </a:spcBef>
        <a:buFont typeface="Wingdings" charset="2"/>
        <a:buChar char="§"/>
        <a:defRPr sz="1700" b="0" i="0" kern="1200">
          <a:solidFill>
            <a:schemeClr val="tx1"/>
          </a:solidFill>
          <a:latin typeface="Frutiger Next LT W1G"/>
          <a:ea typeface="+mn-ea"/>
          <a:cs typeface="Frutiger Next LT W1G"/>
        </a:defRPr>
      </a:lvl4pPr>
      <a:lvl5pPr marL="2303821" indent="-255981" algn="l" defTabSz="511960" rtl="0" eaLnBrk="1" latinLnBrk="0" hangingPunct="1">
        <a:spcBef>
          <a:spcPct val="20000"/>
        </a:spcBef>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p:bodyStyle>
    <p:otherStyle>
      <a:defPPr>
        <a:defRPr lang="en-US"/>
      </a:defPPr>
      <a:lvl1pPr marL="0" algn="l" defTabSz="511960" rtl="0" eaLnBrk="1" latinLnBrk="0" hangingPunct="1">
        <a:defRPr sz="2000" kern="1200">
          <a:solidFill>
            <a:schemeClr val="tx1"/>
          </a:solidFill>
          <a:latin typeface="+mn-lt"/>
          <a:ea typeface="+mn-ea"/>
          <a:cs typeface="+mn-cs"/>
        </a:defRPr>
      </a:lvl1pPr>
      <a:lvl2pPr marL="511960" algn="l" defTabSz="511960" rtl="0" eaLnBrk="1" latinLnBrk="0" hangingPunct="1">
        <a:defRPr sz="2000" kern="1200">
          <a:solidFill>
            <a:schemeClr val="tx1"/>
          </a:solidFill>
          <a:latin typeface="+mn-lt"/>
          <a:ea typeface="+mn-ea"/>
          <a:cs typeface="+mn-cs"/>
        </a:defRPr>
      </a:lvl2pPr>
      <a:lvl3pPr marL="1023921" algn="l" defTabSz="511960" rtl="0" eaLnBrk="1" latinLnBrk="0" hangingPunct="1">
        <a:defRPr sz="2000" kern="1200">
          <a:solidFill>
            <a:schemeClr val="tx1"/>
          </a:solidFill>
          <a:latin typeface="+mn-lt"/>
          <a:ea typeface="+mn-ea"/>
          <a:cs typeface="+mn-cs"/>
        </a:defRPr>
      </a:lvl3pPr>
      <a:lvl4pPr marL="1535881" algn="l" defTabSz="511960" rtl="0" eaLnBrk="1" latinLnBrk="0" hangingPunct="1">
        <a:defRPr sz="2000" kern="1200">
          <a:solidFill>
            <a:schemeClr val="tx1"/>
          </a:solidFill>
          <a:latin typeface="+mn-lt"/>
          <a:ea typeface="+mn-ea"/>
          <a:cs typeface="+mn-cs"/>
        </a:defRPr>
      </a:lvl4pPr>
      <a:lvl5pPr marL="2047842" algn="l" defTabSz="511960" rtl="0" eaLnBrk="1" latinLnBrk="0" hangingPunct="1">
        <a:defRPr sz="2000" kern="1200">
          <a:solidFill>
            <a:schemeClr val="tx1"/>
          </a:solidFill>
          <a:latin typeface="+mn-lt"/>
          <a:ea typeface="+mn-ea"/>
          <a:cs typeface="+mn-cs"/>
        </a:defRPr>
      </a:lvl5pPr>
      <a:lvl6pPr marL="2559802" algn="l" defTabSz="511960" rtl="0" eaLnBrk="1" latinLnBrk="0" hangingPunct="1">
        <a:defRPr sz="2000" kern="1200">
          <a:solidFill>
            <a:schemeClr val="tx1"/>
          </a:solidFill>
          <a:latin typeface="+mn-lt"/>
          <a:ea typeface="+mn-ea"/>
          <a:cs typeface="+mn-cs"/>
        </a:defRPr>
      </a:lvl6pPr>
      <a:lvl7pPr marL="3071762" algn="l" defTabSz="511960" rtl="0" eaLnBrk="1" latinLnBrk="0" hangingPunct="1">
        <a:defRPr sz="2000" kern="1200">
          <a:solidFill>
            <a:schemeClr val="tx1"/>
          </a:solidFill>
          <a:latin typeface="+mn-lt"/>
          <a:ea typeface="+mn-ea"/>
          <a:cs typeface="+mn-cs"/>
        </a:defRPr>
      </a:lvl7pPr>
      <a:lvl8pPr marL="3583723" algn="l" defTabSz="511960" rtl="0" eaLnBrk="1" latinLnBrk="0" hangingPunct="1">
        <a:defRPr sz="2000" kern="1200">
          <a:solidFill>
            <a:schemeClr val="tx1"/>
          </a:solidFill>
          <a:latin typeface="+mn-lt"/>
          <a:ea typeface="+mn-ea"/>
          <a:cs typeface="+mn-cs"/>
        </a:defRPr>
      </a:lvl8pPr>
      <a:lvl9pPr marL="4095683" algn="l" defTabSz="511960" rtl="0" eaLnBrk="1" latinLnBrk="0" hangingPunct="1">
        <a:defRPr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apps.exchange.autodesk.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hyperlink" Target="http://apps.exchange.autodesk.com/RVT/en/Home"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smtClean="0"/>
              <a:t>Store Overview </a:t>
            </a:r>
            <a:endParaRPr lang="en-US" dirty="0"/>
          </a:p>
        </p:txBody>
      </p:sp>
      <p:sp>
        <p:nvSpPr>
          <p:cNvPr id="5" name="Text Placeholder 4"/>
          <p:cNvSpPr>
            <a:spLocks noGrp="1"/>
          </p:cNvSpPr>
          <p:nvPr>
            <p:ph type="body" sz="quarter" idx="14"/>
          </p:nvPr>
        </p:nvSpPr>
        <p:spPr/>
        <p:txBody>
          <a:bodyPr/>
          <a:lstStyle/>
          <a:p>
            <a:r>
              <a:rPr lang="en-US" dirty="0"/>
              <a:t>Autodesk Exchange for Autodesk</a:t>
            </a:r>
            <a:r>
              <a:rPr lang="en-US" baseline="30000" dirty="0"/>
              <a:t>®</a:t>
            </a:r>
            <a:r>
              <a:rPr lang="en-US" dirty="0"/>
              <a:t> Revit</a:t>
            </a:r>
            <a:r>
              <a:rPr lang="en-US" baseline="30000" dirty="0"/>
              <a:t>®  </a:t>
            </a:r>
          </a:p>
        </p:txBody>
      </p:sp>
    </p:spTree>
    <p:extLst>
      <p:ext uri="{BB962C8B-B14F-4D97-AF65-F5344CB8AC3E}">
        <p14:creationId xmlns:p14="http://schemas.microsoft.com/office/powerpoint/2010/main" val="1829980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67200" indent="0" algn="ctr">
              <a:buNone/>
            </a:pPr>
            <a:r>
              <a:rPr lang="en-US" dirty="0">
                <a:hlinkClick r:id="rId3"/>
              </a:rPr>
              <a:t>http://apps.exchange.autodesk.com</a:t>
            </a:r>
            <a:r>
              <a:rPr lang="en-US" dirty="0" smtClean="0">
                <a:hlinkClick r:id="rId3"/>
              </a:rPr>
              <a:t>/</a:t>
            </a:r>
            <a:endParaRPr lang="en-US" dirty="0" smtClean="0"/>
          </a:p>
          <a:p>
            <a:pPr algn="ctr"/>
            <a:endParaRPr lang="en-US" dirty="0"/>
          </a:p>
        </p:txBody>
      </p:sp>
      <p:sp>
        <p:nvSpPr>
          <p:cNvPr id="3" name="Title 2"/>
          <p:cNvSpPr>
            <a:spLocks noGrp="1"/>
          </p:cNvSpPr>
          <p:nvPr>
            <p:ph type="title"/>
          </p:nvPr>
        </p:nvSpPr>
        <p:spPr/>
        <p:txBody>
          <a:bodyPr/>
          <a:lstStyle/>
          <a:p>
            <a:r>
              <a:rPr lang="en-US" dirty="0" smtClean="0"/>
              <a:t>Autodesk Exchange Apps Store</a:t>
            </a:r>
            <a:endParaRPr lang="en-US" dirty="0"/>
          </a:p>
        </p:txBody>
      </p:sp>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55913" y="2024701"/>
            <a:ext cx="7075714" cy="4413961"/>
          </a:xfrm>
          <a:prstGeom prst="rect">
            <a:avLst/>
          </a:prstGeom>
        </p:spPr>
      </p:pic>
    </p:spTree>
    <p:extLst>
      <p:ext uri="{BB962C8B-B14F-4D97-AF65-F5344CB8AC3E}">
        <p14:creationId xmlns:p14="http://schemas.microsoft.com/office/powerpoint/2010/main" val="3674051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57200" y="1417641"/>
            <a:ext cx="8454044" cy="4767282"/>
          </a:xfrm>
        </p:spPr>
        <p:txBody>
          <a:bodyPr/>
          <a:lstStyle/>
          <a:p>
            <a:pPr marL="67200" indent="0" algn="ctr">
              <a:buNone/>
            </a:pPr>
            <a:r>
              <a:rPr lang="en-US" dirty="0">
                <a:hlinkClick r:id="rId3"/>
              </a:rPr>
              <a:t>http://</a:t>
            </a:r>
            <a:r>
              <a:rPr lang="en-US" dirty="0" smtClean="0">
                <a:hlinkClick r:id="rId3"/>
              </a:rPr>
              <a:t>apps.exchange.autodesk.com/RVT/en/Home</a:t>
            </a:r>
            <a:endParaRPr lang="en-US" dirty="0" smtClean="0"/>
          </a:p>
          <a:p>
            <a:pPr marL="67200" indent="0" algn="ctr">
              <a:buNone/>
            </a:pPr>
            <a:endParaRPr lang="en-US" dirty="0"/>
          </a:p>
        </p:txBody>
      </p:sp>
      <p:sp>
        <p:nvSpPr>
          <p:cNvPr id="3" name="Title 2"/>
          <p:cNvSpPr>
            <a:spLocks noGrp="1"/>
          </p:cNvSpPr>
          <p:nvPr>
            <p:ph type="title"/>
          </p:nvPr>
        </p:nvSpPr>
        <p:spPr/>
        <p:txBody>
          <a:bodyPr/>
          <a:lstStyle/>
          <a:p>
            <a:r>
              <a:rPr lang="en-US" dirty="0" smtClean="0"/>
              <a:t>Exchange Store for Revit </a:t>
            </a:r>
            <a:endParaRPr lang="en-US" dirty="0"/>
          </a:p>
        </p:txBody>
      </p:sp>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69841" y="1959430"/>
            <a:ext cx="6809392" cy="4472564"/>
          </a:xfrm>
          <a:prstGeom prst="rect">
            <a:avLst/>
          </a:prstGeom>
        </p:spPr>
      </p:pic>
    </p:spTree>
    <p:extLst>
      <p:ext uri="{BB962C8B-B14F-4D97-AF65-F5344CB8AC3E}">
        <p14:creationId xmlns:p14="http://schemas.microsoft.com/office/powerpoint/2010/main" val="1454339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nSpc>
                <a:spcPct val="150000"/>
              </a:lnSpc>
            </a:pPr>
            <a:r>
              <a:rPr lang="en-US" dirty="0"/>
              <a:t>User Experience </a:t>
            </a:r>
          </a:p>
          <a:p>
            <a:pPr lvl="1">
              <a:lnSpc>
                <a:spcPct val="150000"/>
              </a:lnSpc>
            </a:pPr>
            <a:r>
              <a:rPr lang="en-US" dirty="0"/>
              <a:t>Common look and feel across the Autodesk </a:t>
            </a:r>
            <a:r>
              <a:rPr lang="en-US" dirty="0" smtClean="0"/>
              <a:t>Products</a:t>
            </a:r>
          </a:p>
          <a:p>
            <a:pPr marL="67200" indent="0">
              <a:lnSpc>
                <a:spcPct val="150000"/>
              </a:lnSpc>
              <a:buNone/>
            </a:pPr>
            <a:endParaRPr lang="en-US" dirty="0" smtClean="0"/>
          </a:p>
          <a:p>
            <a:pPr>
              <a:lnSpc>
                <a:spcPct val="150000"/>
              </a:lnSpc>
            </a:pPr>
            <a:r>
              <a:rPr lang="en-US" dirty="0" smtClean="0"/>
              <a:t>Developer </a:t>
            </a:r>
            <a:r>
              <a:rPr lang="en-US" dirty="0"/>
              <a:t>Experience</a:t>
            </a:r>
          </a:p>
          <a:p>
            <a:pPr lvl="1">
              <a:lnSpc>
                <a:spcPct val="150000"/>
              </a:lnSpc>
            </a:pPr>
            <a:r>
              <a:rPr lang="en-US" dirty="0"/>
              <a:t>Easy </a:t>
            </a:r>
            <a:r>
              <a:rPr lang="en-US" dirty="0" smtClean="0"/>
              <a:t>packaging, e.g., </a:t>
            </a:r>
          </a:p>
          <a:p>
            <a:pPr lvl="2">
              <a:lnSpc>
                <a:spcPct val="150000"/>
              </a:lnSpc>
            </a:pPr>
            <a:r>
              <a:rPr lang="en-US" dirty="0"/>
              <a:t>H</a:t>
            </a:r>
            <a:r>
              <a:rPr lang="en-US" dirty="0" smtClean="0"/>
              <a:t>elp </a:t>
            </a:r>
            <a:r>
              <a:rPr lang="en-US" dirty="0"/>
              <a:t>file </a:t>
            </a:r>
            <a:r>
              <a:rPr lang="en-US" dirty="0" smtClean="0"/>
              <a:t>creation</a:t>
            </a:r>
          </a:p>
          <a:p>
            <a:pPr lvl="2">
              <a:lnSpc>
                <a:spcPct val="150000"/>
              </a:lnSpc>
            </a:pPr>
            <a:r>
              <a:rPr lang="en-US" dirty="0" smtClean="0"/>
              <a:t>Installer </a:t>
            </a:r>
            <a:r>
              <a:rPr lang="en-US" dirty="0"/>
              <a:t>provided by </a:t>
            </a:r>
            <a:r>
              <a:rPr lang="en-US" dirty="0" smtClean="0"/>
              <a:t>Autodesk  </a:t>
            </a:r>
          </a:p>
          <a:p>
            <a:pPr marL="1020725" lvl="2" indent="0">
              <a:lnSpc>
                <a:spcPct val="150000"/>
              </a:lnSpc>
              <a:buNone/>
            </a:pPr>
            <a:endParaRPr lang="en-US" dirty="0"/>
          </a:p>
        </p:txBody>
      </p:sp>
      <p:sp>
        <p:nvSpPr>
          <p:cNvPr id="3" name="Title 2"/>
          <p:cNvSpPr>
            <a:spLocks noGrp="1"/>
          </p:cNvSpPr>
          <p:nvPr>
            <p:ph type="title"/>
          </p:nvPr>
        </p:nvSpPr>
        <p:spPr/>
        <p:txBody>
          <a:bodyPr/>
          <a:lstStyle/>
          <a:p>
            <a:r>
              <a:rPr lang="en-US" dirty="0" smtClean="0"/>
              <a:t>Exchange Store - Principles </a:t>
            </a:r>
            <a:endParaRPr lang="en-US" dirty="0"/>
          </a:p>
        </p:txBody>
      </p:sp>
    </p:spTree>
    <p:extLst>
      <p:ext uri="{BB962C8B-B14F-4D97-AF65-F5344CB8AC3E}">
        <p14:creationId xmlns:p14="http://schemas.microsoft.com/office/powerpoint/2010/main" val="3427496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10"/>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58788" y="985649"/>
            <a:ext cx="6506484" cy="4324954"/>
          </a:xfrm>
          <a:ln>
            <a:noFill/>
          </a:ln>
          <a:effectLst>
            <a:outerShdw blurRad="50800" dist="38100" dir="13500000" algn="br" rotWithShape="0">
              <a:prstClr val="black">
                <a:alpha val="40000"/>
              </a:prstClr>
            </a:outerShdw>
          </a:effectLst>
        </p:spPr>
      </p:pic>
      <p:sp>
        <p:nvSpPr>
          <p:cNvPr id="3" name="Title 2"/>
          <p:cNvSpPr>
            <a:spLocks noGrp="1"/>
          </p:cNvSpPr>
          <p:nvPr>
            <p:ph type="title"/>
          </p:nvPr>
        </p:nvSpPr>
        <p:spPr/>
        <p:txBody>
          <a:bodyPr/>
          <a:lstStyle/>
          <a:p>
            <a:r>
              <a:rPr lang="en-US" dirty="0"/>
              <a:t>Common User Experience</a:t>
            </a:r>
          </a:p>
        </p:txBody>
      </p:sp>
      <p:pic>
        <p:nvPicPr>
          <p:cNvPr id="12" name="Picture 1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80303" y="1809180"/>
            <a:ext cx="3188783" cy="2278666"/>
          </a:xfrm>
          <a:prstGeom prst="rect">
            <a:avLst/>
          </a:prstGeom>
          <a:effectLst>
            <a:outerShdw blurRad="50800" dist="38100" dir="13500000" algn="br" rotWithShape="0">
              <a:prstClr val="black">
                <a:alpha val="40000"/>
              </a:prstClr>
            </a:outerShdw>
          </a:effectLst>
        </p:spPr>
      </p:pic>
      <p:pic>
        <p:nvPicPr>
          <p:cNvPr id="13" name="Picture 1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76836" y="3500615"/>
            <a:ext cx="3188783" cy="2273858"/>
          </a:xfrm>
          <a:prstGeom prst="rect">
            <a:avLst/>
          </a:prstGeom>
          <a:effectLst>
            <a:outerShdw blurRad="50800" dist="38100" dir="13500000" algn="br" rotWithShape="0">
              <a:prstClr val="black">
                <a:alpha val="40000"/>
              </a:prstClr>
            </a:outerShdw>
          </a:effectLst>
        </p:spPr>
      </p:pic>
      <p:pic>
        <p:nvPicPr>
          <p:cNvPr id="14" name="Picture 1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421338" y="4316445"/>
            <a:ext cx="3188783" cy="2273858"/>
          </a:xfrm>
          <a:prstGeom prst="rect">
            <a:avLst/>
          </a:prstGeom>
          <a:effectLst>
            <a:outerShdw blurRad="50800" dist="38100" dir="13500000" algn="br" rotWithShape="0">
              <a:prstClr val="black">
                <a:alpha val="40000"/>
              </a:prstClr>
            </a:outerShdw>
          </a:effectLst>
        </p:spPr>
      </p:pic>
    </p:spTree>
    <p:extLst>
      <p:ext uri="{BB962C8B-B14F-4D97-AF65-F5344CB8AC3E}">
        <p14:creationId xmlns:p14="http://schemas.microsoft.com/office/powerpoint/2010/main" val="3617736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6613" y="699115"/>
            <a:ext cx="4040187" cy="2653686"/>
          </a:xfrm>
          <a:prstGeom prst="rect">
            <a:avLst/>
          </a:prstGeom>
        </p:spPr>
      </p:pic>
      <p:sp>
        <p:nvSpPr>
          <p:cNvPr id="2" name="Title 1"/>
          <p:cNvSpPr>
            <a:spLocks noGrp="1"/>
          </p:cNvSpPr>
          <p:nvPr>
            <p:ph type="title"/>
          </p:nvPr>
        </p:nvSpPr>
        <p:spPr/>
        <p:txBody>
          <a:bodyPr/>
          <a:lstStyle/>
          <a:p>
            <a:r>
              <a:rPr lang="en-US" dirty="0"/>
              <a:t>Developer Experience</a:t>
            </a:r>
          </a:p>
        </p:txBody>
      </p:sp>
      <p:sp>
        <p:nvSpPr>
          <p:cNvPr id="3" name="Content Placeholder 2"/>
          <p:cNvSpPr>
            <a:spLocks noGrp="1"/>
          </p:cNvSpPr>
          <p:nvPr>
            <p:ph idx="17"/>
          </p:nvPr>
        </p:nvSpPr>
        <p:spPr/>
        <p:txBody>
          <a:bodyPr/>
          <a:lstStyle/>
          <a:p>
            <a:pPr>
              <a:lnSpc>
                <a:spcPct val="150000"/>
              </a:lnSpc>
            </a:pPr>
            <a:r>
              <a:rPr lang="en-US" dirty="0"/>
              <a:t>Online Submission </a:t>
            </a:r>
          </a:p>
          <a:p>
            <a:pPr marL="860425" lvl="1" indent="-315913">
              <a:lnSpc>
                <a:spcPct val="150000"/>
              </a:lnSpc>
            </a:pPr>
            <a:r>
              <a:rPr lang="en-US" dirty="0"/>
              <a:t>Help file </a:t>
            </a:r>
            <a:r>
              <a:rPr lang="en-US" dirty="0" smtClean="0"/>
              <a:t>template </a:t>
            </a:r>
          </a:p>
          <a:p>
            <a:pPr>
              <a:lnSpc>
                <a:spcPct val="150000"/>
              </a:lnSpc>
            </a:pPr>
            <a:r>
              <a:rPr lang="en-US" dirty="0" smtClean="0"/>
              <a:t>Packaging/Installer provided by Autodesk</a:t>
            </a:r>
          </a:p>
          <a:p>
            <a:pPr marL="860425" lvl="1" indent="-315913">
              <a:lnSpc>
                <a:spcPct val="150000"/>
              </a:lnSpc>
            </a:pPr>
            <a:r>
              <a:rPr lang="en-US" dirty="0" smtClean="0"/>
              <a:t>“Bundle” folder structure </a:t>
            </a:r>
          </a:p>
          <a:p>
            <a:pPr>
              <a:lnSpc>
                <a:spcPct val="150000"/>
              </a:lnSpc>
            </a:pPr>
            <a:r>
              <a:rPr lang="en-US" dirty="0" smtClean="0"/>
              <a:t>Small set of guidelines to satisfy </a:t>
            </a:r>
            <a:endParaRPr lang="en-US" dirty="0"/>
          </a:p>
        </p:txBody>
      </p:sp>
      <p:pic>
        <p:nvPicPr>
          <p:cNvPr id="10" name="Content Placeholder 9"/>
          <p:cNvPicPr>
            <a:picLocks noGrp="1" noChangeAspect="1"/>
          </p:cNvPicPr>
          <p:nvPr>
            <p:ph idx="18"/>
          </p:nvPr>
        </p:nvPicPr>
        <p:blipFill>
          <a:blip r:embed="rId4">
            <a:extLst>
              <a:ext uri="{28A0092B-C50C-407E-A947-70E740481C1C}">
                <a14:useLocalDpi xmlns:a14="http://schemas.microsoft.com/office/drawing/2010/main" val="0"/>
              </a:ext>
            </a:extLst>
          </a:blip>
          <a:stretch>
            <a:fillRect/>
          </a:stretch>
        </p:blipFill>
        <p:spPr>
          <a:xfrm>
            <a:off x="4646614" y="3595635"/>
            <a:ext cx="4040187" cy="2566643"/>
          </a:xfrm>
          <a:ln cmpd="sng">
            <a:solidFill>
              <a:schemeClr val="accent6"/>
            </a:solidFill>
          </a:ln>
        </p:spPr>
      </p:pic>
      <p:sp>
        <p:nvSpPr>
          <p:cNvPr id="12" name="Rectangle 11"/>
          <p:cNvSpPr/>
          <p:nvPr/>
        </p:nvSpPr>
        <p:spPr>
          <a:xfrm>
            <a:off x="7685314" y="2934255"/>
            <a:ext cx="914400" cy="331460"/>
          </a:xfrm>
          <a:prstGeom prst="rect">
            <a:avLst/>
          </a:prstGeom>
          <a:noFill/>
          <a:ln w="1905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4" name="Straight Connector 13"/>
          <p:cNvCxnSpPr/>
          <p:nvPr/>
        </p:nvCxnSpPr>
        <p:spPr>
          <a:xfrm>
            <a:off x="7879932" y="2095944"/>
            <a:ext cx="719782" cy="838311"/>
          </a:xfrm>
          <a:prstGeom prst="line">
            <a:avLst/>
          </a:prstGeom>
        </p:spPr>
        <p:style>
          <a:lnRef idx="2">
            <a:schemeClr val="accent1"/>
          </a:lnRef>
          <a:fillRef idx="0">
            <a:schemeClr val="accent1"/>
          </a:fillRef>
          <a:effectRef idx="1">
            <a:schemeClr val="accent1"/>
          </a:effectRef>
          <a:fontRef idx="minor">
            <a:schemeClr val="tx1"/>
          </a:fontRef>
        </p:style>
      </p:cxnSp>
      <p:pic>
        <p:nvPicPr>
          <p:cNvPr id="8" name="Pictur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36508" y="2095944"/>
            <a:ext cx="2143424" cy="790685"/>
          </a:xfrm>
          <a:prstGeom prst="rect">
            <a:avLst/>
          </a:prstGeom>
          <a:ln w="22225" cmpd="sng">
            <a:solidFill>
              <a:srgbClr val="FFC000"/>
            </a:solidFill>
          </a:ln>
          <a:effectLst>
            <a:outerShdw blurRad="63500" dist="152400" dir="3600000" sx="102000" sy="102000" algn="ctr" rotWithShape="0">
              <a:prstClr val="black">
                <a:alpha val="40000"/>
              </a:prstClr>
            </a:outerShdw>
          </a:effectLst>
        </p:spPr>
      </p:pic>
      <p:cxnSp>
        <p:nvCxnSpPr>
          <p:cNvPr id="19" name="Straight Connector 18"/>
          <p:cNvCxnSpPr/>
          <p:nvPr/>
        </p:nvCxnSpPr>
        <p:spPr>
          <a:xfrm>
            <a:off x="5736508" y="2886629"/>
            <a:ext cx="1948806" cy="379085"/>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3808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086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utodesk Theme">
  <a:themeElements>
    <a:clrScheme name="Autodesk colors">
      <a:dk1>
        <a:srgbClr val="000000"/>
      </a:dk1>
      <a:lt1>
        <a:srgbClr val="FFFFFF"/>
      </a:lt1>
      <a:dk2>
        <a:srgbClr val="000000"/>
      </a:dk2>
      <a:lt2>
        <a:srgbClr val="FFFFFF"/>
      </a:lt2>
      <a:accent1>
        <a:srgbClr val="FFCC00"/>
      </a:accent1>
      <a:accent2>
        <a:srgbClr val="87BC40"/>
      </a:accent2>
      <a:accent3>
        <a:srgbClr val="32BCAD"/>
      </a:accent3>
      <a:accent4>
        <a:srgbClr val="0696D7"/>
      </a:accent4>
      <a:accent5>
        <a:srgbClr val="007272"/>
      </a:accent5>
      <a:accent6>
        <a:srgbClr val="1858A8"/>
      </a:accent6>
      <a:hlink>
        <a:srgbClr val="007272"/>
      </a:hlink>
      <a:folHlink>
        <a:srgbClr val="007272"/>
      </a:folHlink>
    </a:clrScheme>
    <a:fontScheme name="Custom 1">
      <a:majorFont>
        <a:latin typeface="Frutiger Next LT W1G"/>
        <a:ea typeface=""/>
        <a:cs typeface=""/>
      </a:majorFont>
      <a:minorFont>
        <a:latin typeface="Frutiger Next LT W1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B67D18A920FC34E89379B9056E5C96B" ma:contentTypeVersion="14" ma:contentTypeDescription="Create a new document." ma:contentTypeScope="" ma:versionID="be707e33ddd7bcc8bacbc23335b141d0">
  <xsd:schema xmlns:xsd="http://www.w3.org/2001/XMLSchema" xmlns:xs="http://www.w3.org/2001/XMLSchema" xmlns:p="http://schemas.microsoft.com/office/2006/metadata/properties" xmlns:ns2="53f21e63-0826-477d-b1b7-3db21182227b" xmlns:ns3="c7e0f0b7-7208-4c92-93d6-598a3e945dff" targetNamespace="http://schemas.microsoft.com/office/2006/metadata/properties" ma:root="true" ma:fieldsID="b504e9fee24a4a4ff760916c7e032d52" ns2:_="" ns3:_="">
    <xsd:import namespace="53f21e63-0826-477d-b1b7-3db21182227b"/>
    <xsd:import namespace="c7e0f0b7-7208-4c92-93d6-598a3e945df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f21e63-0826-477d-b1b7-3db2118222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Location" ma:index="14" nillable="true" ma:displayName="Location" ma:indexed="true" ma:internalName="MediaServiceLocatio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f3486984-7067-43be-b043-3c90f94ef9b2"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e0f0b7-7208-4c92-93d6-598a3e945dff"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8ee30ba-fb0b-4ac6-930f-2974a256cfa8}" ma:internalName="TaxCatchAll" ma:showField="CatchAllData" ma:web="c7e0f0b7-7208-4c92-93d6-598a3e945df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3f21e63-0826-477d-b1b7-3db21182227b">
      <Terms xmlns="http://schemas.microsoft.com/office/infopath/2007/PartnerControls"/>
    </lcf76f155ced4ddcb4097134ff3c332f>
    <TaxCatchAll xmlns="c7e0f0b7-7208-4c92-93d6-598a3e945dff" xsi:nil="true"/>
  </documentManagement>
</p:properties>
</file>

<file path=customXml/itemProps1.xml><?xml version="1.0" encoding="utf-8"?>
<ds:datastoreItem xmlns:ds="http://schemas.openxmlformats.org/officeDocument/2006/customXml" ds:itemID="{91DF79AC-024C-4374-9F4A-3F4942D791E6}"/>
</file>

<file path=customXml/itemProps2.xml><?xml version="1.0" encoding="utf-8"?>
<ds:datastoreItem xmlns:ds="http://schemas.openxmlformats.org/officeDocument/2006/customXml" ds:itemID="{46987E13-CB32-43BC-A0A4-A5C1D870C4BF}"/>
</file>

<file path=customXml/itemProps3.xml><?xml version="1.0" encoding="utf-8"?>
<ds:datastoreItem xmlns:ds="http://schemas.openxmlformats.org/officeDocument/2006/customXml" ds:itemID="{180199FA-5F98-40A4-82A4-9D5670176DD1}"/>
</file>

<file path=docProps/app.xml><?xml version="1.0" encoding="utf-8"?>
<Properties xmlns="http://schemas.openxmlformats.org/officeDocument/2006/extended-properties" xmlns:vt="http://schemas.openxmlformats.org/officeDocument/2006/docPropsVTypes">
  <Template>ADSK_COV_Q2FY14 4x3</Template>
  <TotalTime>10422</TotalTime>
  <Words>545</Words>
  <Application>Microsoft Office PowerPoint</Application>
  <PresentationFormat>Letter Paper (8.5x11 in)</PresentationFormat>
  <Paragraphs>48</Paragraphs>
  <Slides>7</Slides>
  <Notes>7</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Autodesk Theme</vt:lpstr>
      <vt:lpstr>PowerPoint Presentation</vt:lpstr>
      <vt:lpstr>Autodesk Exchange Apps Store</vt:lpstr>
      <vt:lpstr>Exchange Store for Revit </vt:lpstr>
      <vt:lpstr>Exchange Store - Principles </vt:lpstr>
      <vt:lpstr>Common User Experience</vt:lpstr>
      <vt:lpstr>Developer Experience</vt:lpstr>
      <vt:lpstr>PowerPoint Presentation</vt:lpstr>
    </vt:vector>
  </TitlesOfParts>
  <Company>Autodesk</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Pasquale Volpintesta</dc:creator>
  <cp:lastModifiedBy>Mikako Harada</cp:lastModifiedBy>
  <cp:revision>629</cp:revision>
  <cp:lastPrinted>2013-07-31T17:22:49Z</cp:lastPrinted>
  <dcterms:created xsi:type="dcterms:W3CDTF">2012-10-19T15:38:24Z</dcterms:created>
  <dcterms:modified xsi:type="dcterms:W3CDTF">2013-08-12T20:45:55Z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0x010100BB67D18A920FC34E89379B9056E5C96B</vt:lpwstr>
  </property>
</Properties>
</file>